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33" r:id="rId1"/>
  </p:sldMasterIdLst>
  <p:sldIdLst>
    <p:sldId id="256" r:id="rId2"/>
    <p:sldId id="257" r:id="rId3"/>
    <p:sldId id="274" r:id="rId4"/>
    <p:sldId id="275" r:id="rId5"/>
    <p:sldId id="258" r:id="rId6"/>
    <p:sldId id="290" r:id="rId7"/>
    <p:sldId id="283" r:id="rId8"/>
    <p:sldId id="285" r:id="rId9"/>
    <p:sldId id="289" r:id="rId10"/>
    <p:sldId id="288" r:id="rId11"/>
    <p:sldId id="284" r:id="rId12"/>
    <p:sldId id="278"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509" autoAdjust="0"/>
    <p:restoredTop sz="94660"/>
  </p:normalViewPr>
  <p:slideViewPr>
    <p:cSldViewPr snapToGrid="0">
      <p:cViewPr varScale="1">
        <p:scale>
          <a:sx n="91" d="100"/>
          <a:sy n="91" d="100"/>
        </p:scale>
        <p:origin x="619"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764464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A54C80-263E-416B-A8E0-580EDEADCBDC}" type="datetimeFigureOut">
              <a:rPr lang="en-US" smtClean="0"/>
              <a:t>12/17/2025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20474775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246065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2A54C80-263E-416B-A8E0-580EDEADCBDC}" type="datetimeFigureOut">
              <a:rPr lang="en-US" smtClean="0"/>
              <a:t>12/17/2025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2404638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12/17/2025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160349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12/17/2025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697512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12/17/2025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98812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12/17/2025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26198252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12/17/2025</a:t>
            </a:fld>
            <a:endParaRPr lang="en-US" dirty="0"/>
          </a:p>
        </p:txBody>
      </p:sp>
    </p:spTree>
    <p:extLst>
      <p:ext uri="{BB962C8B-B14F-4D97-AF65-F5344CB8AC3E}">
        <p14:creationId xmlns:p14="http://schemas.microsoft.com/office/powerpoint/2010/main" val="12002144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445813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965263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167729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5988067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315263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12/17/2025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12888763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860453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12/17/2025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97243178"/>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 id="2147483746" r:id="rId13"/>
    <p:sldLayoutId id="2147483747" r:id="rId14"/>
    <p:sldLayoutId id="2147483748" r:id="rId15"/>
    <p:sldLayoutId id="214748374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85246" y="1448149"/>
            <a:ext cx="7085925" cy="843402"/>
          </a:xfrm>
        </p:spPr>
        <p:txBody>
          <a:bodyPr>
            <a:normAutofit/>
          </a:bodyPr>
          <a:lstStyle/>
          <a:p>
            <a:r>
              <a:rPr lang="en-US" sz="2400" dirty="0">
                <a:solidFill>
                  <a:schemeClr val="tx2">
                    <a:lumMod val="75000"/>
                  </a:schemeClr>
                </a:solidFill>
                <a:latin typeface="Times New Roman" panose="02020603050405020304" pitchFamily="18" charset="0"/>
                <a:cs typeface="Times New Roman" panose="02020603050405020304" pitchFamily="18" charset="0"/>
              </a:rPr>
              <a:t>Model Evaluation techniques in Unsupervised Learning</a:t>
            </a:r>
            <a:endParaRPr lang="en-IN" sz="2400" dirty="0">
              <a:solidFill>
                <a:schemeClr val="tx2">
                  <a:lumMod val="75000"/>
                </a:schemeClr>
              </a:solidFill>
              <a:latin typeface="Times New Roman" panose="02020603050405020304" pitchFamily="18" charset="0"/>
              <a:cs typeface="Times New Roman" panose="02020603050405020304" pitchFamily="18" charset="0"/>
            </a:endParaRPr>
          </a:p>
        </p:txBody>
      </p:sp>
      <p:sp>
        <p:nvSpPr>
          <p:cNvPr id="6" name="TextBox 5"/>
          <p:cNvSpPr txBox="1"/>
          <p:nvPr/>
        </p:nvSpPr>
        <p:spPr>
          <a:xfrm>
            <a:off x="2307097" y="481994"/>
            <a:ext cx="7315199" cy="584775"/>
          </a:xfrm>
          <a:prstGeom prst="rect">
            <a:avLst/>
          </a:prstGeom>
          <a:noFill/>
        </p:spPr>
        <p:txBody>
          <a:bodyPr wrap="square" rtlCol="0">
            <a:spAutoFit/>
          </a:bodyPr>
          <a:lstStyle/>
          <a:p>
            <a:pPr algn="ctr"/>
            <a:r>
              <a:rPr lang="en-US" sz="3200" dirty="0">
                <a:latin typeface="Times New Roman" panose="02020603050405020304" pitchFamily="18" charset="0"/>
                <a:cs typeface="Times New Roman" panose="02020603050405020304" pitchFamily="18" charset="0"/>
              </a:rPr>
              <a:t>TOPS TECHNOLOGIES</a:t>
            </a:r>
            <a:endParaRPr lang="en-IN" sz="3200"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3790126" y="2472876"/>
            <a:ext cx="4611748"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Submitted by:- Ruchit Thummar</a:t>
            </a:r>
            <a:endParaRPr lang="en-IN" sz="2000"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8790E84F-16B3-062B-B4BC-CEB5639746A9}"/>
              </a:ext>
            </a:extLst>
          </p:cNvPr>
          <p:cNvPicPr>
            <a:picLocks noChangeAspect="1"/>
          </p:cNvPicPr>
          <p:nvPr/>
        </p:nvPicPr>
        <p:blipFill>
          <a:blip r:embed="rId2"/>
          <a:stretch>
            <a:fillRect/>
          </a:stretch>
        </p:blipFill>
        <p:spPr>
          <a:xfrm>
            <a:off x="2307097" y="100612"/>
            <a:ext cx="1347537" cy="1347537"/>
          </a:xfrm>
          <a:prstGeom prst="rect">
            <a:avLst/>
          </a:prstGeom>
        </p:spPr>
      </p:pic>
    </p:spTree>
    <p:extLst>
      <p:ext uri="{BB962C8B-B14F-4D97-AF65-F5344CB8AC3E}">
        <p14:creationId xmlns:p14="http://schemas.microsoft.com/office/powerpoint/2010/main" val="7383892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22812"/>
          </a:xfrm>
        </p:spPr>
        <p:txBody>
          <a:bodyPr>
            <a:normAutofit/>
          </a:bodyPr>
          <a:lstStyle/>
          <a:p>
            <a:pPr algn="ctr"/>
            <a:r>
              <a:rPr lang="en-US" u="sng"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OUTLINE</a:t>
            </a:r>
            <a:endParaRPr lang="en-IN" u="sng"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334" y="1460748"/>
            <a:ext cx="8596668" cy="4998050"/>
          </a:xfrm>
        </p:spPr>
        <p:txBody>
          <a:bodyPr>
            <a:noAutofit/>
          </a:bodyPr>
          <a:lstStyle/>
          <a:p>
            <a:pPr fontAlgn="base"/>
            <a:r>
              <a:rPr lang="en-US" dirty="0">
                <a:latin typeface="Times New Roman" panose="02020603050405020304" pitchFamily="18" charset="0"/>
                <a:cs typeface="Times New Roman" panose="02020603050405020304" pitchFamily="18" charset="0"/>
              </a:rPr>
              <a:t>What Is Unsupervised Learning?</a:t>
            </a:r>
          </a:p>
          <a:p>
            <a:pPr fontAlgn="base"/>
            <a:r>
              <a:rPr lang="en-US" dirty="0">
                <a:latin typeface="Times New Roman" panose="02020603050405020304" pitchFamily="18" charset="0"/>
                <a:cs typeface="Times New Roman" panose="02020603050405020304" pitchFamily="18" charset="0"/>
              </a:rPr>
              <a:t>Why Model Evaluation Is Important</a:t>
            </a:r>
          </a:p>
          <a:p>
            <a:pPr fontAlgn="base"/>
            <a:r>
              <a:rPr lang="en-US" dirty="0">
                <a:latin typeface="Times New Roman" panose="02020603050405020304" pitchFamily="18" charset="0"/>
                <a:cs typeface="Times New Roman" panose="02020603050405020304" pitchFamily="18" charset="0"/>
              </a:rPr>
              <a:t>Challenges in Evaluating Unsupervised Models</a:t>
            </a:r>
          </a:p>
          <a:p>
            <a:pPr fontAlgn="base"/>
            <a:r>
              <a:rPr lang="en-IN" dirty="0">
                <a:latin typeface="Times New Roman" panose="02020603050405020304" pitchFamily="18" charset="0"/>
                <a:cs typeface="Times New Roman" panose="02020603050405020304" pitchFamily="18" charset="0"/>
              </a:rPr>
              <a:t>Clustering Evaluation Techniques</a:t>
            </a:r>
          </a:p>
          <a:p>
            <a:pPr fontAlgn="base"/>
            <a:r>
              <a:rPr lang="en-IN" dirty="0">
                <a:latin typeface="Times New Roman" panose="02020603050405020304" pitchFamily="18" charset="0"/>
                <a:cs typeface="Times New Roman" panose="02020603050405020304" pitchFamily="18" charset="0"/>
              </a:rPr>
              <a:t>Dimensionality Reduction Evaluation</a:t>
            </a:r>
          </a:p>
          <a:p>
            <a:pPr fontAlgn="base"/>
            <a:r>
              <a:rPr lang="en-US" dirty="0">
                <a:latin typeface="Times New Roman" panose="02020603050405020304" pitchFamily="18" charset="0"/>
                <a:cs typeface="Times New Roman" panose="02020603050405020304" pitchFamily="18" charset="0"/>
              </a:rPr>
              <a:t>Use Cases in Real Business Applications</a:t>
            </a:r>
          </a:p>
          <a:p>
            <a:pPr fontAlgn="base"/>
            <a:r>
              <a:rPr lang="en-IN" dirty="0">
                <a:latin typeface="Times New Roman" panose="02020603050405020304" pitchFamily="18" charset="0"/>
                <a:cs typeface="Times New Roman" panose="02020603050405020304" pitchFamily="18" charset="0"/>
              </a:rPr>
              <a:t>Conclusion </a:t>
            </a:r>
          </a:p>
          <a:p>
            <a:pPr fontAlgn="base"/>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236232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2534" y="505326"/>
            <a:ext cx="8596668" cy="735874"/>
          </a:xfrm>
        </p:spPr>
        <p:txBody>
          <a:bodyPr>
            <a:normAutofit/>
          </a:bodyPr>
          <a:lstStyle/>
          <a:p>
            <a:pPr algn="ctr"/>
            <a:r>
              <a:rPr lang="en-US" sz="3000" u="sng"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What Is Unsupervised Learning?</a:t>
            </a:r>
          </a:p>
        </p:txBody>
      </p:sp>
      <p:sp>
        <p:nvSpPr>
          <p:cNvPr id="3" name="Content Placeholder 2"/>
          <p:cNvSpPr>
            <a:spLocks noGrp="1"/>
          </p:cNvSpPr>
          <p:nvPr>
            <p:ph idx="1"/>
          </p:nvPr>
        </p:nvSpPr>
        <p:spPr>
          <a:xfrm>
            <a:off x="909944" y="1488613"/>
            <a:ext cx="8821285" cy="3880773"/>
          </a:xfrm>
        </p:spPr>
        <p:txBody>
          <a:bodyPr>
            <a:noAutofit/>
          </a:bodyPr>
          <a:lstStyle/>
          <a:p>
            <a:pPr algn="just">
              <a:lnSpc>
                <a:spcPct val="150000"/>
              </a:lnSpc>
            </a:pPr>
            <a:r>
              <a:rPr lang="en-US" sz="1700" dirty="0">
                <a:latin typeface="Times New Roman" panose="02020603050405020304" pitchFamily="18" charset="0"/>
                <a:cs typeface="Times New Roman" panose="02020603050405020304" pitchFamily="18" charset="0"/>
              </a:rPr>
              <a:t>Unsupervised learning is a type of machine learning where the model learns patterns from data without any labels or predefined answers. </a:t>
            </a:r>
          </a:p>
          <a:p>
            <a:pPr algn="just">
              <a:lnSpc>
                <a:spcPct val="150000"/>
              </a:lnSpc>
            </a:pPr>
            <a:r>
              <a:rPr lang="en-US" sz="1700" dirty="0">
                <a:latin typeface="Times New Roman" panose="02020603050405020304" pitchFamily="18" charset="0"/>
                <a:cs typeface="Times New Roman" panose="02020603050405020304" pitchFamily="18" charset="0"/>
              </a:rPr>
              <a:t>Unlike supervised learning, where the correct output is known, unsupervised models explore the data on their own to discover structure or relationships. </a:t>
            </a:r>
          </a:p>
          <a:p>
            <a:pPr algn="just">
              <a:lnSpc>
                <a:spcPct val="150000"/>
              </a:lnSpc>
            </a:pPr>
            <a:r>
              <a:rPr lang="en-US" sz="1700" dirty="0">
                <a:latin typeface="Times New Roman" panose="02020603050405020304" pitchFamily="18" charset="0"/>
                <a:cs typeface="Times New Roman" panose="02020603050405020304" pitchFamily="18" charset="0"/>
              </a:rPr>
              <a:t>This approach is mainly used to group similar items, detect unusual behavior, or reduce large amounts of data into simpler forms. </a:t>
            </a:r>
          </a:p>
          <a:p>
            <a:pPr algn="just">
              <a:lnSpc>
                <a:spcPct val="150000"/>
              </a:lnSpc>
            </a:pPr>
            <a:r>
              <a:rPr lang="en-US" sz="1700" dirty="0">
                <a:latin typeface="Times New Roman" panose="02020603050405020304" pitchFamily="18" charset="0"/>
                <a:cs typeface="Times New Roman" panose="02020603050405020304" pitchFamily="18" charset="0"/>
              </a:rPr>
              <a:t>The goal is to understand the natural patterns in the data rather than make direct predictions.</a:t>
            </a:r>
          </a:p>
          <a:p>
            <a:pPr algn="just">
              <a:lnSpc>
                <a:spcPct val="150000"/>
              </a:lnSpc>
            </a:pPr>
            <a:r>
              <a:rPr lang="en-US" sz="1700" dirty="0">
                <a:latin typeface="Times New Roman" panose="02020603050405020304" pitchFamily="18" charset="0"/>
                <a:cs typeface="Times New Roman" panose="02020603050405020304" pitchFamily="18" charset="0"/>
              </a:rPr>
              <a:t>Example: Retail company uses unsupervised learning to group customers based on their shopping behavior, even though there are no labels showing what type of customer each person is.</a:t>
            </a:r>
          </a:p>
        </p:txBody>
      </p:sp>
    </p:spTree>
    <p:extLst>
      <p:ext uri="{BB962C8B-B14F-4D97-AF65-F5344CB8AC3E}">
        <p14:creationId xmlns:p14="http://schemas.microsoft.com/office/powerpoint/2010/main" val="26671603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54157" y="1241200"/>
            <a:ext cx="8708625" cy="3547457"/>
          </a:xfrm>
        </p:spPr>
        <p:txBody>
          <a:bodyPr>
            <a:noAutofit/>
          </a:bodyPr>
          <a:lstStyle/>
          <a:p>
            <a:pPr algn="just">
              <a:lnSpc>
                <a:spcPct val="150000"/>
              </a:lnSpc>
            </a:pPr>
            <a:r>
              <a:rPr lang="en-US" dirty="0">
                <a:latin typeface="Times New Roman" panose="02020603050405020304" pitchFamily="18" charset="0"/>
                <a:cs typeface="Times New Roman" panose="02020603050405020304" pitchFamily="18" charset="0"/>
              </a:rPr>
              <a:t>Evaluating an unsupervised learning model is important because it helps us understand whether the patterns or groups found by the algorithm make sense and are useful. </a:t>
            </a:r>
          </a:p>
          <a:p>
            <a:pPr algn="just">
              <a:lnSpc>
                <a:spcPct val="150000"/>
              </a:lnSpc>
            </a:pPr>
            <a:r>
              <a:rPr lang="en-US" dirty="0">
                <a:latin typeface="Times New Roman" panose="02020603050405020304" pitchFamily="18" charset="0"/>
                <a:cs typeface="Times New Roman" panose="02020603050405020304" pitchFamily="18" charset="0"/>
              </a:rPr>
              <a:t>Since there are no true labels to compare against, evaluation helps measure how well the model organizes or represents the data.</a:t>
            </a:r>
          </a:p>
          <a:p>
            <a:pPr algn="just">
              <a:lnSpc>
                <a:spcPct val="150000"/>
              </a:lnSpc>
            </a:pPr>
            <a:r>
              <a:rPr lang="en-US" dirty="0">
                <a:latin typeface="Times New Roman" panose="02020603050405020304" pitchFamily="18" charset="0"/>
                <a:cs typeface="Times New Roman" panose="02020603050405020304" pitchFamily="18" charset="0"/>
              </a:rPr>
              <a:t>Good evaluation ensures the model is meaningful, reliable, and helpful for decision making. </a:t>
            </a:r>
          </a:p>
          <a:p>
            <a:pPr algn="just">
              <a:lnSpc>
                <a:spcPct val="150000"/>
              </a:lnSpc>
            </a:pPr>
            <a:r>
              <a:rPr lang="en-US" dirty="0">
                <a:latin typeface="Times New Roman" panose="02020603050405020304" pitchFamily="18" charset="0"/>
                <a:cs typeface="Times New Roman" panose="02020603050405020304" pitchFamily="18" charset="0"/>
              </a:rPr>
              <a:t>Without evaluation, we risk using a model that creates random or misleading patterns.</a:t>
            </a:r>
          </a:p>
        </p:txBody>
      </p:sp>
      <p:sp>
        <p:nvSpPr>
          <p:cNvPr id="4" name="Title 1">
            <a:extLst>
              <a:ext uri="{FF2B5EF4-FFF2-40B4-BE49-F238E27FC236}">
                <a16:creationId xmlns:a16="http://schemas.microsoft.com/office/drawing/2014/main" id="{8E8FBBF5-9ADE-3513-7148-2AC42D29EA7C}"/>
              </a:ext>
            </a:extLst>
          </p:cNvPr>
          <p:cNvSpPr txBox="1">
            <a:spLocks/>
          </p:cNvSpPr>
          <p:nvPr/>
        </p:nvSpPr>
        <p:spPr>
          <a:xfrm>
            <a:off x="372534" y="505326"/>
            <a:ext cx="8596668" cy="735874"/>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3000" u="sng"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Why Model Evaluation Is Important</a:t>
            </a:r>
          </a:p>
        </p:txBody>
      </p:sp>
    </p:spTree>
    <p:extLst>
      <p:ext uri="{BB962C8B-B14F-4D97-AF65-F5344CB8AC3E}">
        <p14:creationId xmlns:p14="http://schemas.microsoft.com/office/powerpoint/2010/main" val="17316574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23D85BBA-5AB2-BB1D-2D69-20750EE97B81}"/>
              </a:ext>
            </a:extLst>
          </p:cNvPr>
          <p:cNvSpPr txBox="1">
            <a:spLocks/>
          </p:cNvSpPr>
          <p:nvPr/>
        </p:nvSpPr>
        <p:spPr>
          <a:xfrm>
            <a:off x="814059" y="1241200"/>
            <a:ext cx="8819593" cy="4750377"/>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fontAlgn="base">
              <a:lnSpc>
                <a:spcPct val="150000"/>
              </a:lnSpc>
            </a:pPr>
            <a:r>
              <a:rPr lang="en-US" dirty="0">
                <a:latin typeface="Times New Roman" panose="02020603050405020304" pitchFamily="18" charset="0"/>
                <a:cs typeface="Times New Roman" panose="02020603050405020304" pitchFamily="18" charset="0"/>
              </a:rPr>
              <a:t>Evaluating unsupervised learning models can be difficult because there are no correct answers to compare against. This means traditional accuracy or error measurements used in supervised learning do not apply.</a:t>
            </a:r>
          </a:p>
          <a:p>
            <a:pPr fontAlgn="base">
              <a:lnSpc>
                <a:spcPct val="150000"/>
              </a:lnSpc>
            </a:pPr>
            <a:r>
              <a:rPr lang="en-US" dirty="0">
                <a:latin typeface="Times New Roman" panose="02020603050405020304" pitchFamily="18" charset="0"/>
                <a:cs typeface="Times New Roman" panose="02020603050405020304" pitchFamily="18" charset="0"/>
              </a:rPr>
              <a:t>Different models may group the same data in different ways, and there is no guarantee that one approach is automatically better. The evaluation often depends on how meaningful and useful the results are for the business goal or real-world context.</a:t>
            </a:r>
          </a:p>
          <a:p>
            <a:pPr fontAlgn="base">
              <a:lnSpc>
                <a:spcPct val="150000"/>
              </a:lnSpc>
            </a:pPr>
            <a:r>
              <a:rPr lang="en-US" dirty="0">
                <a:latin typeface="Times New Roman" panose="02020603050405020304" pitchFamily="18" charset="0"/>
                <a:cs typeface="Times New Roman" panose="02020603050405020304" pitchFamily="18" charset="0"/>
              </a:rPr>
              <a:t>Another challenge is that patterns found by the model may look mathematically correct but may not make sense in practice. Because of this, evaluation often requires a mix of statistical measures and human judgment.</a:t>
            </a:r>
            <a:endParaRPr lang="en-US" sz="1700" dirty="0">
              <a:latin typeface="Times New Roman" panose="02020603050405020304" pitchFamily="18" charset="0"/>
              <a:cs typeface="Times New Roman" panose="02020603050405020304" pitchFamily="18" charset="0"/>
            </a:endParaRPr>
          </a:p>
        </p:txBody>
      </p:sp>
      <p:sp>
        <p:nvSpPr>
          <p:cNvPr id="9" name="Title 1">
            <a:extLst>
              <a:ext uri="{FF2B5EF4-FFF2-40B4-BE49-F238E27FC236}">
                <a16:creationId xmlns:a16="http://schemas.microsoft.com/office/drawing/2014/main" id="{7A972812-9BEB-88EE-D34A-DD7F312783EC}"/>
              </a:ext>
            </a:extLst>
          </p:cNvPr>
          <p:cNvSpPr txBox="1">
            <a:spLocks/>
          </p:cNvSpPr>
          <p:nvPr/>
        </p:nvSpPr>
        <p:spPr>
          <a:xfrm>
            <a:off x="372534" y="505326"/>
            <a:ext cx="8596668" cy="735874"/>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3000" u="sng"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Challenges in Evaluating Unsupervised Models</a:t>
            </a:r>
          </a:p>
        </p:txBody>
      </p:sp>
    </p:spTree>
    <p:extLst>
      <p:ext uri="{BB962C8B-B14F-4D97-AF65-F5344CB8AC3E}">
        <p14:creationId xmlns:p14="http://schemas.microsoft.com/office/powerpoint/2010/main" val="665282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23D85BBA-5AB2-BB1D-2D69-20750EE97B81}"/>
              </a:ext>
            </a:extLst>
          </p:cNvPr>
          <p:cNvSpPr txBox="1">
            <a:spLocks/>
          </p:cNvSpPr>
          <p:nvPr/>
        </p:nvSpPr>
        <p:spPr>
          <a:xfrm>
            <a:off x="814059" y="1241200"/>
            <a:ext cx="8819593" cy="4750377"/>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fontAlgn="base"/>
            <a:r>
              <a:rPr lang="en-US" b="1" dirty="0">
                <a:latin typeface="Times New Roman" panose="02020603050405020304" pitchFamily="18" charset="0"/>
                <a:cs typeface="Times New Roman" panose="02020603050405020304" pitchFamily="18" charset="0"/>
              </a:rPr>
              <a:t>1. Silhouette Score:</a:t>
            </a:r>
          </a:p>
          <a:p>
            <a:pPr fontAlgn="base">
              <a:lnSpc>
                <a:spcPct val="150000"/>
              </a:lnSpc>
            </a:pPr>
            <a:r>
              <a:rPr lang="en-US" sz="1700" dirty="0">
                <a:latin typeface="Times New Roman" panose="02020603050405020304" pitchFamily="18" charset="0"/>
                <a:cs typeface="Times New Roman" panose="02020603050405020304" pitchFamily="18" charset="0"/>
              </a:rPr>
              <a:t>This score measures how similar each point is to its own cluster compared to other clusters. A higher score means the clusters are well separated and well-formed.</a:t>
            </a:r>
          </a:p>
          <a:p>
            <a:pPr fontAlgn="base">
              <a:lnSpc>
                <a:spcPct val="150000"/>
              </a:lnSpc>
            </a:pPr>
            <a:r>
              <a:rPr lang="en-US" sz="1700" dirty="0">
                <a:latin typeface="Times New Roman" panose="02020603050405020304" pitchFamily="18" charset="0"/>
                <a:cs typeface="Times New Roman" panose="02020603050405020304" pitchFamily="18" charset="0"/>
              </a:rPr>
              <a:t>Example: A clothing retailer checks if customer groups budget buyers, premium buyers, and seasonal buyers are clearly separated.</a:t>
            </a:r>
          </a:p>
          <a:p>
            <a:pPr fontAlgn="base"/>
            <a:endParaRPr lang="en-US" sz="1700" dirty="0">
              <a:latin typeface="Times New Roman" panose="02020603050405020304" pitchFamily="18" charset="0"/>
              <a:cs typeface="Times New Roman" panose="02020603050405020304" pitchFamily="18" charset="0"/>
            </a:endParaRPr>
          </a:p>
          <a:p>
            <a:pPr fontAlgn="base"/>
            <a:r>
              <a:rPr lang="en-US" b="1" dirty="0">
                <a:latin typeface="Times New Roman" panose="02020603050405020304" pitchFamily="18" charset="0"/>
                <a:cs typeface="Times New Roman" panose="02020603050405020304" pitchFamily="18" charset="0"/>
              </a:rPr>
              <a:t>2. Davies-Bouldin Index:</a:t>
            </a:r>
          </a:p>
          <a:p>
            <a:pPr fontAlgn="base">
              <a:lnSpc>
                <a:spcPct val="150000"/>
              </a:lnSpc>
            </a:pPr>
            <a:r>
              <a:rPr lang="en-US" sz="1700" dirty="0">
                <a:latin typeface="Times New Roman" panose="02020603050405020304" pitchFamily="18" charset="0"/>
                <a:cs typeface="Times New Roman" panose="02020603050405020304" pitchFamily="18" charset="0"/>
              </a:rPr>
              <a:t>This index checks how close clusters are to each other. A lower value means the clusters are better separated and clearer.</a:t>
            </a:r>
          </a:p>
          <a:p>
            <a:pPr fontAlgn="base">
              <a:lnSpc>
                <a:spcPct val="150000"/>
              </a:lnSpc>
            </a:pPr>
            <a:r>
              <a:rPr lang="en-US" sz="1700" dirty="0">
                <a:latin typeface="Times New Roman" panose="02020603050405020304" pitchFamily="18" charset="0"/>
                <a:cs typeface="Times New Roman" panose="02020603050405020304" pitchFamily="18" charset="0"/>
              </a:rPr>
              <a:t>Example: A hotel chain uses this to ensure tourist and business traveler groups do not overlap.</a:t>
            </a:r>
          </a:p>
          <a:p>
            <a:pPr fontAlgn="base"/>
            <a:endParaRPr lang="en-US" sz="1700" dirty="0">
              <a:latin typeface="Times New Roman" panose="02020603050405020304" pitchFamily="18" charset="0"/>
              <a:cs typeface="Times New Roman" panose="02020603050405020304" pitchFamily="18" charset="0"/>
            </a:endParaRPr>
          </a:p>
        </p:txBody>
      </p:sp>
      <p:sp>
        <p:nvSpPr>
          <p:cNvPr id="9" name="Title 1">
            <a:extLst>
              <a:ext uri="{FF2B5EF4-FFF2-40B4-BE49-F238E27FC236}">
                <a16:creationId xmlns:a16="http://schemas.microsoft.com/office/drawing/2014/main" id="{7A972812-9BEB-88EE-D34A-DD7F312783EC}"/>
              </a:ext>
            </a:extLst>
          </p:cNvPr>
          <p:cNvSpPr txBox="1">
            <a:spLocks/>
          </p:cNvSpPr>
          <p:nvPr/>
        </p:nvSpPr>
        <p:spPr>
          <a:xfrm>
            <a:off x="372534" y="505326"/>
            <a:ext cx="8596668" cy="735874"/>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3000" u="sng"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Clustering Evaluation Techniques</a:t>
            </a:r>
          </a:p>
        </p:txBody>
      </p:sp>
    </p:spTree>
    <p:extLst>
      <p:ext uri="{BB962C8B-B14F-4D97-AF65-F5344CB8AC3E}">
        <p14:creationId xmlns:p14="http://schemas.microsoft.com/office/powerpoint/2010/main" val="19803243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6C6228B4-01C8-AA02-88AC-A91E6462754C}"/>
              </a:ext>
            </a:extLst>
          </p:cNvPr>
          <p:cNvSpPr txBox="1">
            <a:spLocks/>
          </p:cNvSpPr>
          <p:nvPr/>
        </p:nvSpPr>
        <p:spPr>
          <a:xfrm>
            <a:off x="856004" y="796583"/>
            <a:ext cx="8819593" cy="4750377"/>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fontAlgn="base"/>
            <a:r>
              <a:rPr lang="en-US" b="1" dirty="0">
                <a:latin typeface="Times New Roman" panose="02020603050405020304" pitchFamily="18" charset="0"/>
                <a:cs typeface="Times New Roman" panose="02020603050405020304" pitchFamily="18" charset="0"/>
              </a:rPr>
              <a:t>3. Dunn Index:</a:t>
            </a:r>
          </a:p>
          <a:p>
            <a:pPr fontAlgn="base">
              <a:lnSpc>
                <a:spcPct val="150000"/>
              </a:lnSpc>
            </a:pPr>
            <a:r>
              <a:rPr lang="en-US" sz="1700" dirty="0">
                <a:latin typeface="Times New Roman" panose="02020603050405020304" pitchFamily="18" charset="0"/>
                <a:cs typeface="Times New Roman" panose="02020603050405020304" pitchFamily="18" charset="0"/>
              </a:rPr>
              <a:t>This measure looks at how compact clusters are and how far apart they are from other clusters. A higher value means better clustering quality.</a:t>
            </a:r>
          </a:p>
          <a:p>
            <a:pPr fontAlgn="base">
              <a:lnSpc>
                <a:spcPct val="150000"/>
              </a:lnSpc>
            </a:pPr>
            <a:r>
              <a:rPr lang="en-US" sz="1700" dirty="0">
                <a:latin typeface="Times New Roman" panose="02020603050405020304" pitchFamily="18" charset="0"/>
                <a:cs typeface="Times New Roman" panose="02020603050405020304" pitchFamily="18" charset="0"/>
              </a:rPr>
              <a:t>Example: A supermarket evaluates whether product purchase patterns form distinct categories like snacks, frozen foods, and dairy.</a:t>
            </a:r>
          </a:p>
          <a:p>
            <a:pPr fontAlgn="base">
              <a:lnSpc>
                <a:spcPct val="150000"/>
              </a:lnSpc>
            </a:pPr>
            <a:endParaRPr lang="en-US" sz="1700" dirty="0">
              <a:latin typeface="Times New Roman" panose="02020603050405020304" pitchFamily="18" charset="0"/>
              <a:cs typeface="Times New Roman" panose="02020603050405020304" pitchFamily="18" charset="0"/>
            </a:endParaRPr>
          </a:p>
          <a:p>
            <a:pPr fontAlgn="base"/>
            <a:r>
              <a:rPr lang="en-US" b="1" dirty="0">
                <a:latin typeface="Times New Roman" panose="02020603050405020304" pitchFamily="18" charset="0"/>
                <a:cs typeface="Times New Roman" panose="02020603050405020304" pitchFamily="18" charset="0"/>
              </a:rPr>
              <a:t>4. Rand Index:</a:t>
            </a:r>
          </a:p>
          <a:p>
            <a:pPr fontAlgn="base">
              <a:lnSpc>
                <a:spcPct val="150000"/>
              </a:lnSpc>
            </a:pPr>
            <a:r>
              <a:rPr lang="en-US" sz="1700" dirty="0">
                <a:latin typeface="Times New Roman" panose="02020603050405020304" pitchFamily="18" charset="0"/>
                <a:cs typeface="Times New Roman" panose="02020603050405020304" pitchFamily="18" charset="0"/>
              </a:rPr>
              <a:t>This method compares how similar the clustering results are to a known reference grouping. A higher score means the model’s clusters are close to the expected pattern.</a:t>
            </a:r>
          </a:p>
          <a:p>
            <a:pPr fontAlgn="base">
              <a:lnSpc>
                <a:spcPct val="150000"/>
              </a:lnSpc>
            </a:pPr>
            <a:r>
              <a:rPr lang="en-US" sz="1700" dirty="0">
                <a:latin typeface="Times New Roman" panose="02020603050405020304" pitchFamily="18" charset="0"/>
                <a:cs typeface="Times New Roman" panose="02020603050405020304" pitchFamily="18" charset="0"/>
              </a:rPr>
              <a:t>Example: A healthcare company compares model-created patient groups with known diagnosis groups to measure similarity.</a:t>
            </a:r>
          </a:p>
        </p:txBody>
      </p:sp>
    </p:spTree>
    <p:extLst>
      <p:ext uri="{BB962C8B-B14F-4D97-AF65-F5344CB8AC3E}">
        <p14:creationId xmlns:p14="http://schemas.microsoft.com/office/powerpoint/2010/main" val="33857206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EE236A-21F0-2629-64D4-A8A26796DB3C}"/>
              </a:ext>
            </a:extLst>
          </p:cNvPr>
          <p:cNvSpPr txBox="1">
            <a:spLocks/>
          </p:cNvSpPr>
          <p:nvPr/>
        </p:nvSpPr>
        <p:spPr>
          <a:xfrm>
            <a:off x="621716" y="436063"/>
            <a:ext cx="8596312" cy="751054"/>
          </a:xfrm>
          <a:prstGeom prst="rect">
            <a:avLst/>
          </a:prstGeom>
        </p:spPr>
        <p:txBody>
          <a:bodyPr vert="horz" lIns="91440" tIns="45720" rIns="91440" bIns="45720" rtlCol="0" anchor="t">
            <a:normAutofit/>
          </a:bodyPr>
          <a:lstStyle>
            <a:lvl1pPr marL="342900" indent="-342900" algn="l" defTabSz="457200" rtl="0" eaLnBrk="1" latinLnBrk="0" hangingPunct="1">
              <a:spcBef>
                <a:spcPct val="0"/>
              </a:spcBef>
              <a:spcAft>
                <a:spcPts val="0"/>
              </a:spcAft>
              <a:buClr>
                <a:schemeClr val="accent1"/>
              </a:buClr>
              <a:buSzPct val="80000"/>
              <a:buFont typeface="Wingdings 3" charset="2"/>
              <a:buNone/>
              <a:defRPr sz="3600" kern="1200">
                <a:solidFill>
                  <a:schemeClr val="accent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2"/>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2"/>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2"/>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2"/>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2"/>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2"/>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2"/>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2"/>
                </a:solidFill>
                <a:latin typeface="+mn-lt"/>
                <a:ea typeface="+mn-ea"/>
                <a:cs typeface="+mn-cs"/>
              </a:defRPr>
            </a:lvl9pPr>
          </a:lstStyle>
          <a:p>
            <a:pPr algn="ctr"/>
            <a:r>
              <a:rPr lang="en-US" sz="3000" u="sng"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Dimensionality Reduction Techniques and Evaluation</a:t>
            </a:r>
          </a:p>
        </p:txBody>
      </p:sp>
      <p:sp>
        <p:nvSpPr>
          <p:cNvPr id="5" name="Content Placeholder 2">
            <a:extLst>
              <a:ext uri="{FF2B5EF4-FFF2-40B4-BE49-F238E27FC236}">
                <a16:creationId xmlns:a16="http://schemas.microsoft.com/office/drawing/2014/main" id="{49263B5A-9B0D-69DD-BAD9-5536143238A9}"/>
              </a:ext>
            </a:extLst>
          </p:cNvPr>
          <p:cNvSpPr>
            <a:spLocks noGrp="1"/>
          </p:cNvSpPr>
          <p:nvPr>
            <p:ph idx="1"/>
          </p:nvPr>
        </p:nvSpPr>
        <p:spPr>
          <a:xfrm>
            <a:off x="758074" y="1183105"/>
            <a:ext cx="8931210" cy="4491789"/>
          </a:xfrm>
        </p:spPr>
        <p:txBody>
          <a:bodyPr>
            <a:noAutofit/>
          </a:bodyPr>
          <a:lstStyle/>
          <a:p>
            <a:pPr marL="0" algn="just" rtl="0" eaLnBrk="1" fontAlgn="base" latinLnBrk="0" hangingPunct="1">
              <a:lnSpc>
                <a:spcPct val="150000"/>
              </a:lnSpc>
              <a:spcBef>
                <a:spcPts val="0"/>
              </a:spcBef>
              <a:spcAft>
                <a:spcPts val="0"/>
              </a:spcAft>
            </a:pPr>
            <a:r>
              <a:rPr lang="en-US" b="1" kern="1200" dirty="0">
                <a:solidFill>
                  <a:srgbClr val="000000"/>
                </a:solidFill>
                <a:effectLst/>
                <a:latin typeface="Times New Roman" panose="02020603050405020304" pitchFamily="18" charset="0"/>
                <a:ea typeface="+mn-ea"/>
                <a:cs typeface="Times New Roman" panose="02020603050405020304" pitchFamily="18" charset="0"/>
              </a:rPr>
              <a:t>1. Principal Component Analysis (PCA):</a:t>
            </a:r>
          </a:p>
          <a:p>
            <a:pPr marL="0" algn="just" rtl="0" eaLnBrk="1" fontAlgn="base" latinLnBrk="0" hangingPunct="1">
              <a:lnSpc>
                <a:spcPct val="150000"/>
              </a:lnSpc>
              <a:spcBef>
                <a:spcPts val="0"/>
              </a:spcBef>
              <a:spcAft>
                <a:spcPts val="0"/>
              </a:spcAft>
            </a:pPr>
            <a:r>
              <a:rPr lang="en-US" sz="1700" kern="1200" dirty="0">
                <a:solidFill>
                  <a:srgbClr val="000000"/>
                </a:solidFill>
                <a:effectLst/>
                <a:latin typeface="Times New Roman" panose="02020603050405020304" pitchFamily="18" charset="0"/>
                <a:ea typeface="+mn-ea"/>
                <a:cs typeface="Times New Roman" panose="02020603050405020304" pitchFamily="18" charset="0"/>
              </a:rPr>
              <a:t>PCA reduces the number of features by finding the directions of highest variation in the data. It keeps the most useful information while removing noise.</a:t>
            </a:r>
          </a:p>
          <a:p>
            <a:pPr marL="0" algn="just" rtl="0" eaLnBrk="1" fontAlgn="base" latinLnBrk="0" hangingPunct="1">
              <a:lnSpc>
                <a:spcPct val="150000"/>
              </a:lnSpc>
              <a:spcBef>
                <a:spcPts val="0"/>
              </a:spcBef>
              <a:spcAft>
                <a:spcPts val="0"/>
              </a:spcAft>
            </a:pPr>
            <a:r>
              <a:rPr lang="en-US" sz="1700" kern="1200" dirty="0">
                <a:solidFill>
                  <a:srgbClr val="000000"/>
                </a:solidFill>
                <a:effectLst/>
                <a:latin typeface="Times New Roman" panose="02020603050405020304" pitchFamily="18" charset="0"/>
                <a:ea typeface="+mn-ea"/>
                <a:cs typeface="Times New Roman" panose="02020603050405020304" pitchFamily="18" charset="0"/>
              </a:rPr>
              <a:t>Example: A bank uses PCA to reduce 200 customer financial features to 20 key factors while maintaining useful patterns for segmentation.</a:t>
            </a:r>
          </a:p>
          <a:p>
            <a:pPr marL="0" algn="just" rtl="0" eaLnBrk="1" fontAlgn="base" latinLnBrk="0" hangingPunct="1">
              <a:lnSpc>
                <a:spcPct val="150000"/>
              </a:lnSpc>
              <a:spcBef>
                <a:spcPts val="0"/>
              </a:spcBef>
              <a:spcAft>
                <a:spcPts val="0"/>
              </a:spcAft>
            </a:pPr>
            <a:endParaRPr lang="en-US" sz="1700" dirty="0">
              <a:solidFill>
                <a:srgbClr val="000000"/>
              </a:solidFill>
              <a:latin typeface="Times New Roman" panose="02020603050405020304" pitchFamily="18" charset="0"/>
              <a:cs typeface="Times New Roman" panose="02020603050405020304" pitchFamily="18" charset="0"/>
            </a:endParaRPr>
          </a:p>
          <a:p>
            <a:pPr marL="0" algn="just" rtl="0" eaLnBrk="1" fontAlgn="base" latinLnBrk="0" hangingPunct="1">
              <a:lnSpc>
                <a:spcPct val="150000"/>
              </a:lnSpc>
              <a:spcBef>
                <a:spcPts val="0"/>
              </a:spcBef>
              <a:spcAft>
                <a:spcPts val="0"/>
              </a:spcAft>
            </a:pPr>
            <a:r>
              <a:rPr lang="en-US" b="1" dirty="0">
                <a:effectLst/>
                <a:latin typeface="Times New Roman" panose="02020603050405020304" pitchFamily="18" charset="0"/>
                <a:cs typeface="Times New Roman" panose="02020603050405020304" pitchFamily="18" charset="0"/>
              </a:rPr>
              <a:t>2. t-SNE (t-Distributed Stochastic Neighbor Embedding):</a:t>
            </a:r>
          </a:p>
          <a:p>
            <a:pPr marL="0" algn="just" rtl="0" eaLnBrk="1" fontAlgn="base" latinLnBrk="0" hangingPunct="1">
              <a:lnSpc>
                <a:spcPct val="150000"/>
              </a:lnSpc>
              <a:spcBef>
                <a:spcPts val="0"/>
              </a:spcBef>
              <a:spcAft>
                <a:spcPts val="0"/>
              </a:spcAft>
            </a:pPr>
            <a:r>
              <a:rPr lang="en-US" sz="1700" dirty="0">
                <a:effectLst/>
                <a:latin typeface="Times New Roman" panose="02020603050405020304" pitchFamily="18" charset="0"/>
                <a:cs typeface="Times New Roman" panose="02020603050405020304" pitchFamily="18" charset="0"/>
              </a:rPr>
              <a:t>This model is mainly used for visualization. It helps show clusters or patterns clearly when working with high-dimensional data.</a:t>
            </a:r>
          </a:p>
          <a:p>
            <a:pPr marL="0" algn="just" rtl="0" eaLnBrk="1" fontAlgn="base" latinLnBrk="0" hangingPunct="1">
              <a:lnSpc>
                <a:spcPct val="150000"/>
              </a:lnSpc>
              <a:spcBef>
                <a:spcPts val="0"/>
              </a:spcBef>
              <a:spcAft>
                <a:spcPts val="0"/>
              </a:spcAft>
            </a:pPr>
            <a:r>
              <a:rPr lang="en-US" sz="1700" dirty="0">
                <a:effectLst/>
                <a:latin typeface="Times New Roman" panose="02020603050405020304" pitchFamily="18" charset="0"/>
                <a:cs typeface="Times New Roman" panose="02020603050405020304" pitchFamily="18" charset="0"/>
              </a:rPr>
              <a:t>Example: A marketing analyst uses t-SNE to visualize customer behaviors to confirm whether natural groups exist.</a:t>
            </a:r>
            <a:endParaRPr lang="en-IN" sz="170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04128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49263B5A-9B0D-69DD-BAD9-5536143238A9}"/>
              </a:ext>
            </a:extLst>
          </p:cNvPr>
          <p:cNvSpPr>
            <a:spLocks noGrp="1"/>
          </p:cNvSpPr>
          <p:nvPr>
            <p:ph idx="1"/>
          </p:nvPr>
        </p:nvSpPr>
        <p:spPr>
          <a:xfrm>
            <a:off x="774852" y="923046"/>
            <a:ext cx="8931210" cy="4491789"/>
          </a:xfrm>
        </p:spPr>
        <p:txBody>
          <a:bodyPr>
            <a:noAutofit/>
          </a:bodyPr>
          <a:lstStyle/>
          <a:p>
            <a:pPr marL="0" algn="just" rtl="0" eaLnBrk="1" fontAlgn="base" latinLnBrk="0" hangingPunct="1">
              <a:lnSpc>
                <a:spcPct val="150000"/>
              </a:lnSpc>
              <a:spcBef>
                <a:spcPts val="0"/>
              </a:spcBef>
              <a:spcAft>
                <a:spcPts val="0"/>
              </a:spcAft>
            </a:pPr>
            <a:r>
              <a:rPr lang="en-US" b="1" kern="1200" dirty="0">
                <a:solidFill>
                  <a:srgbClr val="000000"/>
                </a:solidFill>
                <a:effectLst/>
                <a:latin typeface="Times New Roman" panose="02020603050405020304" pitchFamily="18" charset="0"/>
                <a:ea typeface="+mn-ea"/>
                <a:cs typeface="Times New Roman" panose="02020603050405020304" pitchFamily="18" charset="0"/>
              </a:rPr>
              <a:t>3. UMAP (Uniform Manifold Approximation and Projection):</a:t>
            </a:r>
          </a:p>
          <a:p>
            <a:pPr marL="0" algn="just" rtl="0" eaLnBrk="1" fontAlgn="base" latinLnBrk="0" hangingPunct="1">
              <a:lnSpc>
                <a:spcPct val="150000"/>
              </a:lnSpc>
              <a:spcBef>
                <a:spcPts val="0"/>
              </a:spcBef>
              <a:spcAft>
                <a:spcPts val="0"/>
              </a:spcAft>
            </a:pPr>
            <a:r>
              <a:rPr lang="en-US" sz="1700" kern="1200" dirty="0">
                <a:solidFill>
                  <a:srgbClr val="000000"/>
                </a:solidFill>
                <a:effectLst/>
                <a:latin typeface="Times New Roman" panose="02020603050405020304" pitchFamily="18" charset="0"/>
                <a:ea typeface="+mn-ea"/>
                <a:cs typeface="Times New Roman" panose="02020603050405020304" pitchFamily="18" charset="0"/>
              </a:rPr>
              <a:t>UMAP reduces dimensions while preserving both global structure and local relationships. It is faster than t-SNE and works well for large datasets.</a:t>
            </a:r>
          </a:p>
          <a:p>
            <a:pPr marL="0" algn="just" rtl="0" eaLnBrk="1" fontAlgn="base" latinLnBrk="0" hangingPunct="1">
              <a:lnSpc>
                <a:spcPct val="150000"/>
              </a:lnSpc>
              <a:spcBef>
                <a:spcPts val="0"/>
              </a:spcBef>
              <a:spcAft>
                <a:spcPts val="0"/>
              </a:spcAft>
            </a:pPr>
            <a:r>
              <a:rPr lang="en-US" sz="1700" kern="1200" dirty="0">
                <a:solidFill>
                  <a:srgbClr val="000000"/>
                </a:solidFill>
                <a:effectLst/>
                <a:latin typeface="Times New Roman" panose="02020603050405020304" pitchFamily="18" charset="0"/>
                <a:ea typeface="+mn-ea"/>
                <a:cs typeface="Times New Roman" panose="02020603050405020304" pitchFamily="18" charset="0"/>
              </a:rPr>
              <a:t>Example: A tech company uses UMAP to analyze user activity patterns in mobile apps to detect hidden usage groups.</a:t>
            </a:r>
          </a:p>
          <a:p>
            <a:pPr marL="0" algn="just" rtl="0" eaLnBrk="1" fontAlgn="base" latinLnBrk="0" hangingPunct="1">
              <a:lnSpc>
                <a:spcPct val="150000"/>
              </a:lnSpc>
              <a:spcBef>
                <a:spcPts val="0"/>
              </a:spcBef>
              <a:spcAft>
                <a:spcPts val="0"/>
              </a:spcAft>
            </a:pPr>
            <a:endParaRPr lang="en-US" b="1" dirty="0">
              <a:solidFill>
                <a:srgbClr val="000000"/>
              </a:solidFill>
              <a:latin typeface="Times New Roman" panose="02020603050405020304" pitchFamily="18" charset="0"/>
              <a:cs typeface="Times New Roman" panose="02020603050405020304" pitchFamily="18" charset="0"/>
            </a:endParaRPr>
          </a:p>
          <a:p>
            <a:pPr marL="0" algn="just" rtl="0" eaLnBrk="1" fontAlgn="base" latinLnBrk="0" hangingPunct="1">
              <a:lnSpc>
                <a:spcPct val="150000"/>
              </a:lnSpc>
              <a:spcBef>
                <a:spcPts val="0"/>
              </a:spcBef>
              <a:spcAft>
                <a:spcPts val="0"/>
              </a:spcAft>
            </a:pPr>
            <a:r>
              <a:rPr lang="en-US" b="1" kern="1200" dirty="0">
                <a:solidFill>
                  <a:srgbClr val="000000"/>
                </a:solidFill>
                <a:effectLst/>
                <a:latin typeface="Times New Roman" panose="02020603050405020304" pitchFamily="18" charset="0"/>
                <a:ea typeface="+mn-ea"/>
                <a:cs typeface="Times New Roman" panose="02020603050405020304" pitchFamily="18" charset="0"/>
              </a:rPr>
              <a:t>4. Autoencoders (Neural Network Model):</a:t>
            </a:r>
          </a:p>
          <a:p>
            <a:pPr marL="0" algn="just" rtl="0" eaLnBrk="1" fontAlgn="base" latinLnBrk="0" hangingPunct="1">
              <a:lnSpc>
                <a:spcPct val="150000"/>
              </a:lnSpc>
              <a:spcBef>
                <a:spcPts val="0"/>
              </a:spcBef>
              <a:spcAft>
                <a:spcPts val="0"/>
              </a:spcAft>
            </a:pPr>
            <a:r>
              <a:rPr lang="en-US" sz="1700" kern="1200" dirty="0">
                <a:solidFill>
                  <a:srgbClr val="000000"/>
                </a:solidFill>
                <a:effectLst/>
                <a:latin typeface="Times New Roman" panose="02020603050405020304" pitchFamily="18" charset="0"/>
                <a:ea typeface="+mn-ea"/>
                <a:cs typeface="Times New Roman" panose="02020603050405020304" pitchFamily="18" charset="0"/>
              </a:rPr>
              <a:t>Autoencoders compress data into a smaller representation and then reconstruct it. Evaluation is usually based on reconstruction accuracy.</a:t>
            </a:r>
          </a:p>
          <a:p>
            <a:pPr marL="0" algn="just" rtl="0" eaLnBrk="1" fontAlgn="base" latinLnBrk="0" hangingPunct="1">
              <a:lnSpc>
                <a:spcPct val="150000"/>
              </a:lnSpc>
              <a:spcBef>
                <a:spcPts val="0"/>
              </a:spcBef>
              <a:spcAft>
                <a:spcPts val="0"/>
              </a:spcAft>
            </a:pPr>
            <a:r>
              <a:rPr lang="en-US" sz="1700" kern="1200" dirty="0">
                <a:solidFill>
                  <a:srgbClr val="000000"/>
                </a:solidFill>
                <a:effectLst/>
                <a:latin typeface="Times New Roman" panose="02020603050405020304" pitchFamily="18" charset="0"/>
                <a:ea typeface="+mn-ea"/>
                <a:cs typeface="Times New Roman" panose="02020603050405020304" pitchFamily="18" charset="0"/>
              </a:rPr>
              <a:t>Example: A cybersecurity team uses autoencoders to learn normal network behavior and detect unusual patterns that may indicate fraud or attacks.</a:t>
            </a:r>
            <a:endParaRPr lang="en-IN" sz="1700" dirty="0">
              <a:effectLst/>
            </a:endParaRPr>
          </a:p>
        </p:txBody>
      </p:sp>
    </p:spTree>
    <p:extLst>
      <p:ext uri="{BB962C8B-B14F-4D97-AF65-F5344CB8AC3E}">
        <p14:creationId xmlns:p14="http://schemas.microsoft.com/office/powerpoint/2010/main" val="17295199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EE236A-21F0-2629-64D4-A8A26796DB3C}"/>
              </a:ext>
            </a:extLst>
          </p:cNvPr>
          <p:cNvSpPr txBox="1">
            <a:spLocks/>
          </p:cNvSpPr>
          <p:nvPr/>
        </p:nvSpPr>
        <p:spPr>
          <a:xfrm>
            <a:off x="621716" y="436063"/>
            <a:ext cx="8596312" cy="751054"/>
          </a:xfrm>
          <a:prstGeom prst="rect">
            <a:avLst/>
          </a:prstGeom>
        </p:spPr>
        <p:txBody>
          <a:bodyPr vert="horz" lIns="91440" tIns="45720" rIns="91440" bIns="45720" rtlCol="0" anchor="t">
            <a:normAutofit/>
          </a:bodyPr>
          <a:lstStyle>
            <a:lvl1pPr marL="342900" indent="-342900" algn="l" defTabSz="457200" rtl="0" eaLnBrk="1" latinLnBrk="0" hangingPunct="1">
              <a:spcBef>
                <a:spcPct val="0"/>
              </a:spcBef>
              <a:spcAft>
                <a:spcPts val="0"/>
              </a:spcAft>
              <a:buClr>
                <a:schemeClr val="accent1"/>
              </a:buClr>
              <a:buSzPct val="80000"/>
              <a:buFont typeface="Wingdings 3" charset="2"/>
              <a:buNone/>
              <a:defRPr sz="3600" kern="1200">
                <a:solidFill>
                  <a:schemeClr val="accent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2"/>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2"/>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2"/>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2"/>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2"/>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2"/>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2"/>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2"/>
                </a:solidFill>
                <a:latin typeface="+mn-lt"/>
                <a:ea typeface="+mn-ea"/>
                <a:cs typeface="+mn-cs"/>
              </a:defRPr>
            </a:lvl9pPr>
          </a:lstStyle>
          <a:p>
            <a:pPr algn="ctr"/>
            <a:r>
              <a:rPr lang="en-US" sz="3000" u="sng"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Use Cases in Real Business Applications</a:t>
            </a:r>
          </a:p>
        </p:txBody>
      </p:sp>
      <p:sp>
        <p:nvSpPr>
          <p:cNvPr id="5" name="Content Placeholder 2">
            <a:extLst>
              <a:ext uri="{FF2B5EF4-FFF2-40B4-BE49-F238E27FC236}">
                <a16:creationId xmlns:a16="http://schemas.microsoft.com/office/drawing/2014/main" id="{49263B5A-9B0D-69DD-BAD9-5536143238A9}"/>
              </a:ext>
            </a:extLst>
          </p:cNvPr>
          <p:cNvSpPr>
            <a:spLocks noGrp="1"/>
          </p:cNvSpPr>
          <p:nvPr>
            <p:ph idx="1"/>
          </p:nvPr>
        </p:nvSpPr>
        <p:spPr>
          <a:xfrm>
            <a:off x="758074" y="1183105"/>
            <a:ext cx="8897654" cy="4491789"/>
          </a:xfrm>
        </p:spPr>
        <p:txBody>
          <a:bodyPr>
            <a:noAutofit/>
          </a:bodyPr>
          <a:lstStyle/>
          <a:p>
            <a:pPr marL="0" algn="just" rtl="0" eaLnBrk="1" fontAlgn="base" latinLnBrk="0" hangingPunct="1">
              <a:lnSpc>
                <a:spcPct val="150000"/>
              </a:lnSpc>
              <a:spcBef>
                <a:spcPts val="0"/>
              </a:spcBef>
              <a:spcAft>
                <a:spcPts val="0"/>
              </a:spcAft>
            </a:pPr>
            <a:r>
              <a:rPr lang="en-US" sz="1700" kern="1200" dirty="0">
                <a:solidFill>
                  <a:srgbClr val="000000"/>
                </a:solidFill>
                <a:effectLst/>
                <a:latin typeface="Times New Roman" panose="02020603050405020304" pitchFamily="18" charset="0"/>
                <a:ea typeface="+mn-ea"/>
                <a:cs typeface="Times New Roman" panose="02020603050405020304" pitchFamily="18" charset="0"/>
              </a:rPr>
              <a:t>finance and fraud detection, banks evaluate anomaly detection models to confirm whether unusual patterns actually represent potential fraud. Since there are no labels, techniques like stability checks and cluster validation help avoid false alarms while still catching risky behavior.</a:t>
            </a:r>
          </a:p>
          <a:p>
            <a:pPr marL="0" algn="just" rtl="0" eaLnBrk="1" fontAlgn="base" latinLnBrk="0" hangingPunct="1">
              <a:lnSpc>
                <a:spcPct val="150000"/>
              </a:lnSpc>
              <a:spcBef>
                <a:spcPts val="0"/>
              </a:spcBef>
              <a:spcAft>
                <a:spcPts val="0"/>
              </a:spcAft>
            </a:pPr>
            <a:endParaRPr lang="en-US" sz="1700" kern="1200" dirty="0">
              <a:solidFill>
                <a:srgbClr val="000000"/>
              </a:solidFill>
              <a:effectLst/>
              <a:latin typeface="Times New Roman" panose="02020603050405020304" pitchFamily="18" charset="0"/>
              <a:ea typeface="+mn-ea"/>
              <a:cs typeface="Times New Roman" panose="02020603050405020304" pitchFamily="18" charset="0"/>
            </a:endParaRPr>
          </a:p>
          <a:p>
            <a:pPr marL="0" algn="just" rtl="0" eaLnBrk="1" fontAlgn="base" latinLnBrk="0" hangingPunct="1">
              <a:lnSpc>
                <a:spcPct val="150000"/>
              </a:lnSpc>
              <a:spcBef>
                <a:spcPts val="0"/>
              </a:spcBef>
              <a:spcAft>
                <a:spcPts val="0"/>
              </a:spcAft>
            </a:pPr>
            <a:r>
              <a:rPr lang="en-US" sz="1700" kern="1200" dirty="0">
                <a:solidFill>
                  <a:srgbClr val="000000"/>
                </a:solidFill>
                <a:effectLst/>
                <a:latin typeface="Times New Roman" panose="02020603050405020304" pitchFamily="18" charset="0"/>
                <a:ea typeface="+mn-ea"/>
                <a:cs typeface="Times New Roman" panose="02020603050405020304" pitchFamily="18" charset="0"/>
              </a:rPr>
              <a:t>e-commerce recommendation systems, dimensionality reduction models are evaluated to make sure relationships between products remain meaningful after simplifying the data. If evaluation shows that product similarity is preserved, companies can confidently use the model to recommend items customers are more likely to buy.</a:t>
            </a:r>
          </a:p>
          <a:p>
            <a:pPr marL="0" algn="just" rtl="0" eaLnBrk="1" fontAlgn="base" latinLnBrk="0" hangingPunct="1">
              <a:lnSpc>
                <a:spcPct val="150000"/>
              </a:lnSpc>
              <a:spcBef>
                <a:spcPts val="0"/>
              </a:spcBef>
              <a:spcAft>
                <a:spcPts val="0"/>
              </a:spcAft>
            </a:pPr>
            <a:endParaRPr lang="en-US" sz="1700" kern="1200" dirty="0">
              <a:solidFill>
                <a:srgbClr val="000000"/>
              </a:solidFill>
              <a:effectLst/>
              <a:latin typeface="Times New Roman" panose="02020603050405020304" pitchFamily="18" charset="0"/>
              <a:ea typeface="+mn-ea"/>
              <a:cs typeface="Times New Roman" panose="02020603050405020304" pitchFamily="18" charset="0"/>
            </a:endParaRPr>
          </a:p>
          <a:p>
            <a:pPr marL="0" algn="just" rtl="0" eaLnBrk="1" fontAlgn="base" latinLnBrk="0" hangingPunct="1">
              <a:lnSpc>
                <a:spcPct val="150000"/>
              </a:lnSpc>
              <a:spcBef>
                <a:spcPts val="0"/>
              </a:spcBef>
              <a:spcAft>
                <a:spcPts val="0"/>
              </a:spcAft>
            </a:pPr>
            <a:r>
              <a:rPr lang="en-US" sz="1700" kern="1200" dirty="0">
                <a:solidFill>
                  <a:srgbClr val="000000"/>
                </a:solidFill>
                <a:effectLst/>
                <a:latin typeface="Times New Roman" panose="02020603050405020304" pitchFamily="18" charset="0"/>
                <a:ea typeface="+mn-ea"/>
                <a:cs typeface="Times New Roman" panose="02020603050405020304" pitchFamily="18" charset="0"/>
              </a:rPr>
              <a:t>supply chain analysis, businesses use clustering evaluation to check whether groups of suppliers, routes, or warehouses make logical sense. If the evaluation shows strong separation and consistency, the business can use these groupings to improve planning, reduce delays, and lower operating costs.</a:t>
            </a:r>
            <a:endParaRPr lang="en-IN" sz="1700" dirty="0">
              <a:effectLst/>
            </a:endParaRPr>
          </a:p>
        </p:txBody>
      </p:sp>
    </p:spTree>
    <p:extLst>
      <p:ext uri="{BB962C8B-B14F-4D97-AF65-F5344CB8AC3E}">
        <p14:creationId xmlns:p14="http://schemas.microsoft.com/office/powerpoint/2010/main" val="33570807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22836D6-8EDA-3180-0271-C8D697252907}"/>
              </a:ext>
            </a:extLst>
          </p:cNvPr>
          <p:cNvSpPr txBox="1">
            <a:spLocks/>
          </p:cNvSpPr>
          <p:nvPr/>
        </p:nvSpPr>
        <p:spPr>
          <a:xfrm>
            <a:off x="621716" y="436063"/>
            <a:ext cx="8596312" cy="751054"/>
          </a:xfrm>
          <a:prstGeom prst="rect">
            <a:avLst/>
          </a:prstGeom>
        </p:spPr>
        <p:txBody>
          <a:bodyPr vert="horz" lIns="91440" tIns="45720" rIns="91440" bIns="45720" rtlCol="0" anchor="t">
            <a:normAutofit/>
          </a:bodyPr>
          <a:lstStyle>
            <a:lvl1pPr marL="342900" indent="-342900" algn="l" defTabSz="457200" rtl="0" eaLnBrk="1" latinLnBrk="0" hangingPunct="1">
              <a:spcBef>
                <a:spcPct val="0"/>
              </a:spcBef>
              <a:spcAft>
                <a:spcPts val="0"/>
              </a:spcAft>
              <a:buClr>
                <a:schemeClr val="accent1"/>
              </a:buClr>
              <a:buSzPct val="80000"/>
              <a:buFont typeface="Wingdings 3" charset="2"/>
              <a:buNone/>
              <a:defRPr sz="3600" kern="1200">
                <a:solidFill>
                  <a:schemeClr val="accent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2"/>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2"/>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2"/>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2"/>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2"/>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2"/>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2"/>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2"/>
                </a:solidFill>
                <a:latin typeface="+mn-lt"/>
                <a:ea typeface="+mn-ea"/>
                <a:cs typeface="+mn-cs"/>
              </a:defRPr>
            </a:lvl9pPr>
          </a:lstStyle>
          <a:p>
            <a:pPr algn="ctr"/>
            <a:r>
              <a:rPr lang="en-US" sz="3000" u="sng"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Conclusion</a:t>
            </a:r>
          </a:p>
        </p:txBody>
      </p:sp>
      <p:sp>
        <p:nvSpPr>
          <p:cNvPr id="5" name="Content Placeholder 2">
            <a:extLst>
              <a:ext uri="{FF2B5EF4-FFF2-40B4-BE49-F238E27FC236}">
                <a16:creationId xmlns:a16="http://schemas.microsoft.com/office/drawing/2014/main" id="{E8DC6D7E-5D15-75A2-7956-BCD5BE375153}"/>
              </a:ext>
            </a:extLst>
          </p:cNvPr>
          <p:cNvSpPr>
            <a:spLocks noGrp="1"/>
          </p:cNvSpPr>
          <p:nvPr>
            <p:ph idx="1"/>
          </p:nvPr>
        </p:nvSpPr>
        <p:spPr>
          <a:xfrm>
            <a:off x="758074" y="1183105"/>
            <a:ext cx="8931210" cy="4491789"/>
          </a:xfrm>
        </p:spPr>
        <p:txBody>
          <a:bodyPr>
            <a:noAutofit/>
          </a:bodyPr>
          <a:lstStyle/>
          <a:p>
            <a:pPr marL="0" algn="just" rtl="0" eaLnBrk="1" fontAlgn="base" latinLnBrk="0" hangingPunct="1">
              <a:lnSpc>
                <a:spcPct val="150000"/>
              </a:lnSpc>
              <a:spcBef>
                <a:spcPts val="0"/>
              </a:spcBef>
              <a:spcAft>
                <a:spcPts val="0"/>
              </a:spcAft>
            </a:pPr>
            <a:r>
              <a:rPr lang="en-US" sz="1700" kern="1200" dirty="0">
                <a:solidFill>
                  <a:srgbClr val="000000"/>
                </a:solidFill>
                <a:effectLst/>
                <a:latin typeface="Times New Roman" panose="02020603050405020304" pitchFamily="18" charset="0"/>
                <a:ea typeface="+mn-ea"/>
                <a:cs typeface="Times New Roman" panose="02020603050405020304" pitchFamily="18" charset="0"/>
              </a:rPr>
              <a:t>It helps ensure the patterns or clusters discovered by the model are meaningful and not random. This gives more confidence that the insights can be trusted in real-world decision making. Evaluation also improves the quality of the model by helping refine cluster structures, choose better parameters, or select the most suitable algorithm for the problem. </a:t>
            </a:r>
          </a:p>
          <a:p>
            <a:pPr marL="0" algn="just" rtl="0" eaLnBrk="1" fontAlgn="base" latinLnBrk="0" hangingPunct="1">
              <a:lnSpc>
                <a:spcPct val="150000"/>
              </a:lnSpc>
              <a:spcBef>
                <a:spcPts val="0"/>
              </a:spcBef>
              <a:spcAft>
                <a:spcPts val="0"/>
              </a:spcAft>
            </a:pPr>
            <a:endParaRPr lang="en-US" sz="1700" kern="1200" dirty="0">
              <a:solidFill>
                <a:srgbClr val="000000"/>
              </a:solidFill>
              <a:effectLst/>
              <a:latin typeface="Times New Roman" panose="02020603050405020304" pitchFamily="18" charset="0"/>
              <a:ea typeface="+mn-ea"/>
              <a:cs typeface="Times New Roman" panose="02020603050405020304" pitchFamily="18" charset="0"/>
            </a:endParaRPr>
          </a:p>
          <a:p>
            <a:pPr marL="0" algn="just" rtl="0" eaLnBrk="1" fontAlgn="base" latinLnBrk="0" hangingPunct="1">
              <a:lnSpc>
                <a:spcPct val="150000"/>
              </a:lnSpc>
              <a:spcBef>
                <a:spcPts val="0"/>
              </a:spcBef>
              <a:spcAft>
                <a:spcPts val="0"/>
              </a:spcAft>
            </a:pPr>
            <a:r>
              <a:rPr lang="en-US" sz="1700" kern="1200" dirty="0">
                <a:solidFill>
                  <a:srgbClr val="000000"/>
                </a:solidFill>
                <a:effectLst/>
                <a:latin typeface="Times New Roman" panose="02020603050405020304" pitchFamily="18" charset="0"/>
                <a:ea typeface="+mn-ea"/>
                <a:cs typeface="Times New Roman" panose="02020603050405020304" pitchFamily="18" charset="0"/>
              </a:rPr>
              <a:t>When evaluation confirms that a model produces consistent and stable results, it becomes safer to use in applications such as customer segmentation, fraud detection, or trend analysis.</a:t>
            </a:r>
          </a:p>
          <a:p>
            <a:pPr marL="0" algn="just" rtl="0" eaLnBrk="1" fontAlgn="base" latinLnBrk="0" hangingPunct="1">
              <a:lnSpc>
                <a:spcPct val="150000"/>
              </a:lnSpc>
              <a:spcBef>
                <a:spcPts val="0"/>
              </a:spcBef>
              <a:spcAft>
                <a:spcPts val="0"/>
              </a:spcAft>
            </a:pPr>
            <a:endParaRPr lang="en-US" sz="1700" kern="1200" dirty="0">
              <a:solidFill>
                <a:srgbClr val="000000"/>
              </a:solidFill>
              <a:effectLst/>
              <a:latin typeface="Times New Roman" panose="02020603050405020304" pitchFamily="18" charset="0"/>
              <a:ea typeface="+mn-ea"/>
              <a:cs typeface="Times New Roman" panose="02020603050405020304" pitchFamily="18" charset="0"/>
            </a:endParaRPr>
          </a:p>
          <a:p>
            <a:pPr marL="0" algn="just" rtl="0" eaLnBrk="1" fontAlgn="base" latinLnBrk="0" hangingPunct="1">
              <a:lnSpc>
                <a:spcPct val="150000"/>
              </a:lnSpc>
              <a:spcBef>
                <a:spcPts val="0"/>
              </a:spcBef>
              <a:spcAft>
                <a:spcPts val="0"/>
              </a:spcAft>
            </a:pPr>
            <a:r>
              <a:rPr lang="en-US" sz="1700" kern="1200" dirty="0">
                <a:solidFill>
                  <a:srgbClr val="000000"/>
                </a:solidFill>
                <a:effectLst/>
                <a:latin typeface="Times New Roman" panose="02020603050405020304" pitchFamily="18" charset="0"/>
                <a:ea typeface="+mn-ea"/>
                <a:cs typeface="Times New Roman" panose="02020603050405020304" pitchFamily="18" charset="0"/>
              </a:rPr>
              <a:t>Model evaluation can make results easier to understand, communicate, and apply, especially for non-technical decision makers. </a:t>
            </a:r>
            <a:r>
              <a:rPr lang="en-US" sz="1700">
                <a:solidFill>
                  <a:srgbClr val="000000"/>
                </a:solidFill>
                <a:latin typeface="Times New Roman" panose="02020603050405020304" pitchFamily="18" charset="0"/>
                <a:cs typeface="Times New Roman" panose="02020603050405020304" pitchFamily="18" charset="0"/>
              </a:rPr>
              <a:t>e</a:t>
            </a:r>
            <a:r>
              <a:rPr lang="en-US" sz="1700" kern="1200">
                <a:solidFill>
                  <a:srgbClr val="000000"/>
                </a:solidFill>
                <a:effectLst/>
                <a:latin typeface="Times New Roman" panose="02020603050405020304" pitchFamily="18" charset="0"/>
                <a:ea typeface="+mn-ea"/>
                <a:cs typeface="Times New Roman" panose="02020603050405020304" pitchFamily="18" charset="0"/>
              </a:rPr>
              <a:t>valuation </a:t>
            </a:r>
            <a:r>
              <a:rPr lang="en-US" sz="1700" kern="1200" dirty="0">
                <a:solidFill>
                  <a:srgbClr val="000000"/>
                </a:solidFill>
                <a:effectLst/>
                <a:latin typeface="Times New Roman" panose="02020603050405020304" pitchFamily="18" charset="0"/>
                <a:ea typeface="+mn-ea"/>
                <a:cs typeface="Times New Roman" panose="02020603050405020304" pitchFamily="18" charset="0"/>
              </a:rPr>
              <a:t>helps transform unsupervised learning from raw patterns into reliable and actionable knowledge.</a:t>
            </a:r>
            <a:endParaRPr lang="en-IN" sz="1700" dirty="0">
              <a:effectLst/>
            </a:endParaRPr>
          </a:p>
        </p:txBody>
      </p:sp>
    </p:spTree>
    <p:extLst>
      <p:ext uri="{BB962C8B-B14F-4D97-AF65-F5344CB8AC3E}">
        <p14:creationId xmlns:p14="http://schemas.microsoft.com/office/powerpoint/2010/main" val="24661013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8049990-52E4-37C7-4A8C-8258C63545E2}"/>
              </a:ext>
            </a:extLst>
          </p:cNvPr>
          <p:cNvSpPr>
            <a:spLocks noGrp="1"/>
          </p:cNvSpPr>
          <p:nvPr>
            <p:ph type="title"/>
          </p:nvPr>
        </p:nvSpPr>
        <p:spPr>
          <a:xfrm>
            <a:off x="950579" y="2768600"/>
            <a:ext cx="8596312" cy="1320800"/>
          </a:xfrm>
        </p:spPr>
        <p:txBody>
          <a:bodyPr/>
          <a:lstStyle/>
          <a:p>
            <a:pPr algn="ctr"/>
            <a:r>
              <a:rPr lang="en-US"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86848950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1070</TotalTime>
  <Words>1068</Words>
  <Application>Microsoft Office PowerPoint</Application>
  <PresentationFormat>Widescreen</PresentationFormat>
  <Paragraphs>69</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Times New Roman</vt:lpstr>
      <vt:lpstr>Trebuchet MS</vt:lpstr>
      <vt:lpstr>Wingdings 3</vt:lpstr>
      <vt:lpstr>Facet</vt:lpstr>
      <vt:lpstr>Model Evaluation techniques in Unsupervised Learning</vt:lpstr>
      <vt:lpstr>OUTLINE</vt:lpstr>
      <vt:lpstr>What Is Unsupervised Learning?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CURVECRAFTED-shopping website</dc:title>
  <dc:creator>Lenovo</dc:creator>
  <cp:lastModifiedBy>BAPA SITARAM</cp:lastModifiedBy>
  <cp:revision>286</cp:revision>
  <dcterms:created xsi:type="dcterms:W3CDTF">2024-04-24T06:03:34Z</dcterms:created>
  <dcterms:modified xsi:type="dcterms:W3CDTF">2025-12-17T14:12:19Z</dcterms:modified>
</cp:coreProperties>
</file>