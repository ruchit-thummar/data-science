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3" r:id="rId1"/>
  </p:sldMasterIdLst>
  <p:sldIdLst>
    <p:sldId id="256" r:id="rId2"/>
    <p:sldId id="257" r:id="rId3"/>
    <p:sldId id="274" r:id="rId4"/>
    <p:sldId id="275" r:id="rId5"/>
    <p:sldId id="258" r:id="rId6"/>
    <p:sldId id="259" r:id="rId7"/>
    <p:sldId id="281" r:id="rId8"/>
    <p:sldId id="282" r:id="rId9"/>
    <p:sldId id="260" r:id="rId10"/>
    <p:sldId id="280" r:id="rId11"/>
    <p:sldId id="283" r:id="rId12"/>
    <p:sldId id="284" r:id="rId13"/>
    <p:sldId id="27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509" autoAdjust="0"/>
    <p:restoredTop sz="94660"/>
  </p:normalViewPr>
  <p:slideViewPr>
    <p:cSldViewPr snapToGrid="0">
      <p:cViewPr varScale="1">
        <p:scale>
          <a:sx n="91" d="100"/>
          <a:sy n="91" d="100"/>
        </p:scale>
        <p:origin x="619"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76446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smtClean="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047477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24606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smtClean="0"/>
              <a:t>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240463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16034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69751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98812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619825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12/6/2025</a:t>
            </a:fld>
            <a:endParaRPr lang="en-US" dirty="0"/>
          </a:p>
        </p:txBody>
      </p:sp>
    </p:spTree>
    <p:extLst>
      <p:ext uri="{BB962C8B-B14F-4D97-AF65-F5344CB8AC3E}">
        <p14:creationId xmlns:p14="http://schemas.microsoft.com/office/powerpoint/2010/main" val="1200214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4581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96526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167729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98806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31526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2888763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86045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12/6/2025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97243178"/>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85246" y="1448149"/>
            <a:ext cx="6291471" cy="843402"/>
          </a:xfrm>
        </p:spPr>
        <p:txBody>
          <a:bodyPr>
            <a:normAutofit/>
          </a:bodyPr>
          <a:lstStyle/>
          <a:p>
            <a:r>
              <a:rPr lang="en-US" sz="2400" dirty="0">
                <a:solidFill>
                  <a:schemeClr val="tx2">
                    <a:lumMod val="75000"/>
                  </a:schemeClr>
                </a:solidFill>
                <a:latin typeface="Times New Roman" panose="02020603050405020304" pitchFamily="18" charset="0"/>
                <a:cs typeface="Times New Roman" panose="02020603050405020304" pitchFamily="18" charset="0"/>
              </a:rPr>
              <a:t>How Regression Models are used in Business</a:t>
            </a:r>
            <a:endParaRPr lang="en-IN"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2307097" y="481994"/>
            <a:ext cx="7315199" cy="584775"/>
          </a:xfrm>
          <a:prstGeom prst="rect">
            <a:avLst/>
          </a:prstGeom>
          <a:noFill/>
        </p:spPr>
        <p:txBody>
          <a:bodyPr wrap="square" rtlCol="0">
            <a:spAutoFit/>
          </a:bodyPr>
          <a:lstStyle/>
          <a:p>
            <a:pPr algn="ctr"/>
            <a:r>
              <a:rPr lang="en-US" sz="3200" dirty="0">
                <a:latin typeface="Times New Roman" panose="02020603050405020304" pitchFamily="18" charset="0"/>
                <a:cs typeface="Times New Roman" panose="02020603050405020304" pitchFamily="18" charset="0"/>
              </a:rPr>
              <a:t>TOPS TECHNOLOGIES</a:t>
            </a:r>
            <a:endParaRPr lang="en-IN" sz="32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3790126" y="2472876"/>
            <a:ext cx="4611748"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Submitted by:- Ruchit Thummar</a:t>
            </a:r>
            <a:endParaRPr lang="en-IN" sz="20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8790E84F-16B3-062B-B4BC-CEB5639746A9}"/>
              </a:ext>
            </a:extLst>
          </p:cNvPr>
          <p:cNvPicPr>
            <a:picLocks noChangeAspect="1"/>
          </p:cNvPicPr>
          <p:nvPr/>
        </p:nvPicPr>
        <p:blipFill>
          <a:blip r:embed="rId2"/>
          <a:stretch>
            <a:fillRect/>
          </a:stretch>
        </p:blipFill>
        <p:spPr>
          <a:xfrm>
            <a:off x="2307097" y="100612"/>
            <a:ext cx="1347537" cy="1347537"/>
          </a:xfrm>
          <a:prstGeom prst="rect">
            <a:avLst/>
          </a:prstGeom>
        </p:spPr>
      </p:pic>
    </p:spTree>
    <p:extLst>
      <p:ext uri="{BB962C8B-B14F-4D97-AF65-F5344CB8AC3E}">
        <p14:creationId xmlns:p14="http://schemas.microsoft.com/office/powerpoint/2010/main" val="738389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22812"/>
          </a:xfrm>
        </p:spPr>
        <p:txBody>
          <a:bodyPr>
            <a:normAutofit/>
          </a:bodyPr>
          <a:lstStyle/>
          <a:p>
            <a:pPr algn="ctr"/>
            <a:r>
              <a:rPr lang="en-US"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OUTLINE</a:t>
            </a:r>
            <a:endParaRPr lang="en-IN"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460748"/>
            <a:ext cx="8596668" cy="4998050"/>
          </a:xfrm>
        </p:spPr>
        <p:txBody>
          <a:bodyPr>
            <a:noAutofit/>
          </a:bodyPr>
          <a:lstStyle/>
          <a:p>
            <a:pPr fontAlgn="base"/>
            <a:r>
              <a:rPr lang="en-US" dirty="0">
                <a:latin typeface="Times New Roman" panose="02020603050405020304" pitchFamily="18" charset="0"/>
                <a:cs typeface="Times New Roman" panose="02020603050405020304" pitchFamily="18" charset="0"/>
              </a:rPr>
              <a:t>What Is a Regression Model?</a:t>
            </a:r>
          </a:p>
          <a:p>
            <a:pPr fontAlgn="base"/>
            <a:r>
              <a:rPr lang="en-IN" dirty="0">
                <a:latin typeface="Times New Roman" panose="02020603050405020304" pitchFamily="18" charset="0"/>
                <a:cs typeface="Times New Roman" panose="02020603050405020304" pitchFamily="18" charset="0"/>
              </a:rPr>
              <a:t>Why Businesses Use Regression</a:t>
            </a:r>
          </a:p>
          <a:p>
            <a:pPr fontAlgn="base"/>
            <a:r>
              <a:rPr lang="en-US" dirty="0">
                <a:latin typeface="Times New Roman" panose="02020603050405020304" pitchFamily="18" charset="0"/>
                <a:cs typeface="Times New Roman" panose="02020603050405020304" pitchFamily="18" charset="0"/>
              </a:rPr>
              <a:t>How Regression Helps With Decision Making</a:t>
            </a:r>
          </a:p>
          <a:p>
            <a:pPr fontAlgn="base"/>
            <a:r>
              <a:rPr lang="en-IN" dirty="0">
                <a:latin typeface="Times New Roman" panose="02020603050405020304" pitchFamily="18" charset="0"/>
                <a:cs typeface="Times New Roman" panose="02020603050405020304" pitchFamily="18" charset="0"/>
              </a:rPr>
              <a:t>Common Types of Regression</a:t>
            </a:r>
          </a:p>
          <a:p>
            <a:pPr fontAlgn="base"/>
            <a:r>
              <a:rPr lang="en-IN" dirty="0">
                <a:latin typeface="Times New Roman" panose="02020603050405020304" pitchFamily="18" charset="0"/>
                <a:cs typeface="Times New Roman" panose="02020603050405020304" pitchFamily="18" charset="0"/>
              </a:rPr>
              <a:t>Example in Marketing &amp; Finance </a:t>
            </a:r>
          </a:p>
          <a:p>
            <a:pPr fontAlgn="base"/>
            <a:r>
              <a:rPr lang="en-IN" dirty="0">
                <a:latin typeface="Times New Roman" panose="02020603050405020304" pitchFamily="18" charset="0"/>
                <a:cs typeface="Times New Roman" panose="02020603050405020304" pitchFamily="18" charset="0"/>
              </a:rPr>
              <a:t>Benefits of Regression Models </a:t>
            </a:r>
          </a:p>
          <a:p>
            <a:pPr fontAlgn="base"/>
            <a:r>
              <a:rPr lang="en-IN" dirty="0">
                <a:latin typeface="Times New Roman" panose="02020603050405020304" pitchFamily="18" charset="0"/>
                <a:cs typeface="Times New Roman" panose="02020603050405020304" pitchFamily="18" charset="0"/>
              </a:rPr>
              <a:t>Conclusion </a:t>
            </a:r>
          </a:p>
          <a:p>
            <a:pPr fontAlgn="base"/>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3623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2534" y="505326"/>
            <a:ext cx="8596668" cy="735874"/>
          </a:xfrm>
        </p:spPr>
        <p:txBody>
          <a:bodyPr>
            <a:normAutofit/>
          </a:bodyPr>
          <a:lstStyle/>
          <a:p>
            <a:pPr algn="ctr"/>
            <a:r>
              <a:rPr lang="en-US" sz="3000"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What is Regression Model?</a:t>
            </a:r>
            <a:endParaRPr lang="en-IN" sz="3000"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09944" y="1488613"/>
            <a:ext cx="8821285" cy="3880773"/>
          </a:xfrm>
        </p:spPr>
        <p:txBody>
          <a:bodyPr>
            <a:noAutofit/>
          </a:bodyPr>
          <a:lstStyle/>
          <a:p>
            <a:pPr algn="just">
              <a:lnSpc>
                <a:spcPct val="110000"/>
              </a:lnSpc>
            </a:pPr>
            <a:r>
              <a:rPr lang="en-US" sz="1700" dirty="0">
                <a:latin typeface="Times New Roman" panose="02020603050405020304" pitchFamily="18" charset="0"/>
                <a:cs typeface="Times New Roman" panose="02020603050405020304" pitchFamily="18" charset="0"/>
              </a:rPr>
              <a:t>Regression model is a statistical method used to find relationships between variables. </a:t>
            </a:r>
          </a:p>
          <a:p>
            <a:pPr algn="just">
              <a:lnSpc>
                <a:spcPct val="110000"/>
              </a:lnSpc>
            </a:pPr>
            <a:r>
              <a:rPr lang="en-US" sz="1700" dirty="0">
                <a:latin typeface="Times New Roman" panose="02020603050405020304" pitchFamily="18" charset="0"/>
                <a:cs typeface="Times New Roman" panose="02020603050405020304" pitchFamily="18" charset="0"/>
              </a:rPr>
              <a:t>It helps us understand how one factor affects another and allows us to make predictions based on data.</a:t>
            </a:r>
          </a:p>
          <a:p>
            <a:pPr algn="just">
              <a:lnSpc>
                <a:spcPct val="110000"/>
              </a:lnSpc>
            </a:pPr>
            <a:r>
              <a:rPr lang="en-US" sz="1700" dirty="0">
                <a:latin typeface="Times New Roman" panose="02020603050405020304" pitchFamily="18" charset="0"/>
                <a:cs typeface="Times New Roman" panose="02020603050405020304" pitchFamily="18" charset="0"/>
              </a:rPr>
              <a:t>It helps find patterns in past data, shows how different variables are related, and allows us to predict future outcomes.</a:t>
            </a:r>
          </a:p>
          <a:p>
            <a:pPr marL="0" indent="0" algn="just">
              <a:lnSpc>
                <a:spcPct val="110000"/>
              </a:lnSpc>
              <a:buNone/>
            </a:pPr>
            <a:endParaRPr lang="en-US" sz="1700" dirty="0">
              <a:latin typeface="Times New Roman" panose="02020603050405020304" pitchFamily="18" charset="0"/>
              <a:cs typeface="Times New Roman" panose="02020603050405020304" pitchFamily="18" charset="0"/>
            </a:endParaRPr>
          </a:p>
          <a:p>
            <a:pPr algn="just">
              <a:lnSpc>
                <a:spcPct val="110000"/>
              </a:lnSpc>
            </a:pPr>
            <a:r>
              <a:rPr lang="en-US" sz="1700" dirty="0">
                <a:latin typeface="Times New Roman" panose="02020603050405020304" pitchFamily="18" charset="0"/>
                <a:cs typeface="Times New Roman" panose="02020603050405020304" pitchFamily="18" charset="0"/>
              </a:rPr>
              <a:t>Example:</a:t>
            </a:r>
          </a:p>
          <a:p>
            <a:pPr algn="just">
              <a:lnSpc>
                <a:spcPct val="110000"/>
              </a:lnSpc>
            </a:pPr>
            <a:r>
              <a:rPr lang="en-US" sz="1700" dirty="0">
                <a:latin typeface="Times New Roman" panose="02020603050405020304" pitchFamily="18" charset="0"/>
                <a:cs typeface="Times New Roman" panose="02020603050405020304" pitchFamily="18" charset="0"/>
              </a:rPr>
              <a:t>Company wants to know how advertising spending affects sales. </a:t>
            </a:r>
          </a:p>
          <a:p>
            <a:pPr algn="just">
              <a:lnSpc>
                <a:spcPct val="110000"/>
              </a:lnSpc>
            </a:pPr>
            <a:r>
              <a:rPr lang="en-US" sz="1700" dirty="0">
                <a:latin typeface="Times New Roman" panose="02020603050405020304" pitchFamily="18" charset="0"/>
                <a:cs typeface="Times New Roman" panose="02020603050405020304" pitchFamily="18" charset="0"/>
              </a:rPr>
              <a:t>They look at past data and see that when they spend more money on ads, their sales usually increase. </a:t>
            </a:r>
          </a:p>
          <a:p>
            <a:pPr algn="just">
              <a:lnSpc>
                <a:spcPct val="110000"/>
              </a:lnSpc>
            </a:pPr>
            <a:r>
              <a:rPr lang="en-US" sz="1700" dirty="0">
                <a:latin typeface="Times New Roman" panose="02020603050405020304" pitchFamily="18" charset="0"/>
                <a:cs typeface="Times New Roman" panose="02020603050405020304" pitchFamily="18" charset="0"/>
              </a:rPr>
              <a:t>Regression model creates a line that shows this pattern and helps the company predict how much money they might earn if they increase or decrease advertising in the future.</a:t>
            </a:r>
          </a:p>
        </p:txBody>
      </p:sp>
    </p:spTree>
    <p:extLst>
      <p:ext uri="{BB962C8B-B14F-4D97-AF65-F5344CB8AC3E}">
        <p14:creationId xmlns:p14="http://schemas.microsoft.com/office/powerpoint/2010/main" val="2667160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5494" y="1339220"/>
            <a:ext cx="8596668" cy="3547457"/>
          </a:xfrm>
        </p:spPr>
        <p:txBody>
          <a:bodyPr>
            <a:noAutofit/>
          </a:bodyPr>
          <a:lstStyle/>
          <a:p>
            <a:pPr algn="just">
              <a:lnSpc>
                <a:spcPct val="150000"/>
              </a:lnSpc>
            </a:pPr>
            <a:r>
              <a:rPr lang="en-US" sz="1700" dirty="0">
                <a:latin typeface="Times New Roman" panose="02020603050405020304" pitchFamily="18" charset="0"/>
                <a:cs typeface="Times New Roman" panose="02020603050405020304" pitchFamily="18" charset="0"/>
              </a:rPr>
              <a:t>Regression models are useful in business because they help leaders make smarter decisions using data instead of guessing.</a:t>
            </a:r>
          </a:p>
          <a:p>
            <a:pPr algn="just">
              <a:lnSpc>
                <a:spcPct val="150000"/>
              </a:lnSpc>
            </a:pPr>
            <a:r>
              <a:rPr lang="en-US" sz="1700" dirty="0">
                <a:latin typeface="Times New Roman" panose="02020603050405020304" pitchFamily="18" charset="0"/>
                <a:cs typeface="Times New Roman" panose="02020603050405020304" pitchFamily="18" charset="0"/>
              </a:rPr>
              <a:t>Businesses use regression to predict future trends such as sales, customer demand, or buying behavior, so they can prepare and plan ahead.</a:t>
            </a:r>
          </a:p>
          <a:p>
            <a:pPr algn="just">
              <a:lnSpc>
                <a:spcPct val="150000"/>
              </a:lnSpc>
            </a:pPr>
            <a:r>
              <a:rPr lang="en-US" sz="1700" dirty="0">
                <a:latin typeface="Times New Roman" panose="02020603050405020304" pitchFamily="18" charset="0"/>
                <a:cs typeface="Times New Roman" panose="02020603050405020304" pitchFamily="18" charset="0"/>
              </a:rPr>
              <a:t>Regression models also helps companies understand which factors have the biggest effect on results, such as price, location, or advertising efforts.</a:t>
            </a:r>
          </a:p>
          <a:p>
            <a:pPr algn="just">
              <a:lnSpc>
                <a:spcPct val="150000"/>
              </a:lnSpc>
            </a:pPr>
            <a:r>
              <a:rPr lang="en-US" sz="1700" dirty="0">
                <a:latin typeface="Times New Roman" panose="02020603050405020304" pitchFamily="18" charset="0"/>
                <a:cs typeface="Times New Roman" panose="02020603050405020304" pitchFamily="18" charset="0"/>
              </a:rPr>
              <a:t>It allows businesses to test ideas before spending money, for example changing the product price or increasing marketing, to see how those changes might affect performance.</a:t>
            </a:r>
          </a:p>
          <a:p>
            <a:pPr algn="just">
              <a:lnSpc>
                <a:spcPct val="150000"/>
              </a:lnSpc>
            </a:pPr>
            <a:r>
              <a:rPr lang="en-US" sz="1700" dirty="0">
                <a:latin typeface="Times New Roman" panose="02020603050405020304" pitchFamily="18" charset="0"/>
                <a:cs typeface="Times New Roman" panose="02020603050405020304" pitchFamily="18" charset="0"/>
              </a:rPr>
              <a:t>Regression models helps reduce risk because decisions are based on real numbers and data patterns rather than guesses or assumptions.</a:t>
            </a:r>
          </a:p>
        </p:txBody>
      </p:sp>
      <p:sp>
        <p:nvSpPr>
          <p:cNvPr id="4" name="Title 1">
            <a:extLst>
              <a:ext uri="{FF2B5EF4-FFF2-40B4-BE49-F238E27FC236}">
                <a16:creationId xmlns:a16="http://schemas.microsoft.com/office/drawing/2014/main" id="{8E8FBBF5-9ADE-3513-7148-2AC42D29EA7C}"/>
              </a:ext>
            </a:extLst>
          </p:cNvPr>
          <p:cNvSpPr txBox="1">
            <a:spLocks/>
          </p:cNvSpPr>
          <p:nvPr/>
        </p:nvSpPr>
        <p:spPr>
          <a:xfrm>
            <a:off x="372534" y="505326"/>
            <a:ext cx="8596668" cy="735874"/>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000"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Why Businesses Use Regression Models </a:t>
            </a:r>
            <a:endParaRPr lang="en-IN" sz="3000"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1657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23D85BBA-5AB2-BB1D-2D69-20750EE97B81}"/>
              </a:ext>
            </a:extLst>
          </p:cNvPr>
          <p:cNvSpPr txBox="1">
            <a:spLocks/>
          </p:cNvSpPr>
          <p:nvPr/>
        </p:nvSpPr>
        <p:spPr>
          <a:xfrm>
            <a:off x="814059" y="1241200"/>
            <a:ext cx="8819593" cy="4750377"/>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base">
              <a:lnSpc>
                <a:spcPct val="150000"/>
              </a:lnSpc>
            </a:pPr>
            <a:r>
              <a:rPr lang="en-US" sz="1700" dirty="0">
                <a:latin typeface="Times New Roman" panose="02020603050405020304" pitchFamily="18" charset="0"/>
                <a:cs typeface="Times New Roman" panose="02020603050405020304" pitchFamily="18" charset="0"/>
              </a:rPr>
              <a:t>Regression turns raw data into useful insights, which helps businesses make decisions based on facts rather than personal opinions.</a:t>
            </a:r>
          </a:p>
          <a:p>
            <a:pPr fontAlgn="base">
              <a:lnSpc>
                <a:spcPct val="150000"/>
              </a:lnSpc>
            </a:pPr>
            <a:r>
              <a:rPr lang="en-US" sz="1700" dirty="0">
                <a:latin typeface="Times New Roman" panose="02020603050405020304" pitchFamily="18" charset="0"/>
                <a:cs typeface="Times New Roman" panose="02020603050405020304" pitchFamily="18" charset="0"/>
              </a:rPr>
              <a:t>It also makes planning more accurate because it shows what is likely to happen in the future based on past patterns and relationships.</a:t>
            </a:r>
          </a:p>
          <a:p>
            <a:pPr fontAlgn="base">
              <a:lnSpc>
                <a:spcPct val="150000"/>
              </a:lnSpc>
            </a:pPr>
            <a:r>
              <a:rPr lang="en-US" sz="1700" dirty="0">
                <a:latin typeface="Times New Roman" panose="02020603050405020304" pitchFamily="18" charset="0"/>
                <a:cs typeface="Times New Roman" panose="02020603050405020304" pitchFamily="18" charset="0"/>
              </a:rPr>
              <a:t>Regression allows companies to compare different options and choose the one that is expected to deliver the best results, such as comparing pricing strategies or product features.</a:t>
            </a:r>
          </a:p>
          <a:p>
            <a:pPr fontAlgn="base">
              <a:lnSpc>
                <a:spcPct val="150000"/>
              </a:lnSpc>
            </a:pPr>
            <a:r>
              <a:rPr lang="en-US" sz="1700" dirty="0">
                <a:latin typeface="Times New Roman" panose="02020603050405020304" pitchFamily="18" charset="0"/>
                <a:cs typeface="Times New Roman" panose="02020603050405020304" pitchFamily="18" charset="0"/>
              </a:rPr>
              <a:t>It helps test ideas before spending money, for example changing prices or increasing marketing, so businesses can estimate the outcome before acting.</a:t>
            </a:r>
          </a:p>
          <a:p>
            <a:pPr fontAlgn="base">
              <a:lnSpc>
                <a:spcPct val="150000"/>
              </a:lnSpc>
            </a:pPr>
            <a:r>
              <a:rPr lang="en-US" sz="1700" dirty="0">
                <a:latin typeface="Times New Roman" panose="02020603050405020304" pitchFamily="18" charset="0"/>
                <a:cs typeface="Times New Roman" panose="02020603050405020304" pitchFamily="18" charset="0"/>
              </a:rPr>
              <a:t>Regression reduces uncertainty and risk by clearly showing how different actions affect results, which helps companies avoid costly mistakes.</a:t>
            </a:r>
          </a:p>
        </p:txBody>
      </p:sp>
      <p:sp>
        <p:nvSpPr>
          <p:cNvPr id="9" name="Title 1">
            <a:extLst>
              <a:ext uri="{FF2B5EF4-FFF2-40B4-BE49-F238E27FC236}">
                <a16:creationId xmlns:a16="http://schemas.microsoft.com/office/drawing/2014/main" id="{7A972812-9BEB-88EE-D34A-DD7F312783EC}"/>
              </a:ext>
            </a:extLst>
          </p:cNvPr>
          <p:cNvSpPr txBox="1">
            <a:spLocks/>
          </p:cNvSpPr>
          <p:nvPr/>
        </p:nvSpPr>
        <p:spPr>
          <a:xfrm>
            <a:off x="372534" y="505326"/>
            <a:ext cx="8596668" cy="735874"/>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000"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How Regression Helps With Decision Making</a:t>
            </a:r>
            <a:endParaRPr lang="en-IN" sz="3000"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528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B79BAED-2277-93E2-743D-536B897957E7}"/>
              </a:ext>
            </a:extLst>
          </p:cNvPr>
          <p:cNvSpPr txBox="1">
            <a:spLocks noGrp="1"/>
          </p:cNvSpPr>
          <p:nvPr>
            <p:ph type="title"/>
          </p:nvPr>
        </p:nvSpPr>
        <p:spPr>
          <a:xfrm>
            <a:off x="677863" y="609600"/>
            <a:ext cx="8596312" cy="713874"/>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000"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Types of Regression Models Used in Business</a:t>
            </a:r>
            <a:endParaRPr lang="en-IN" sz="3000" u="sng" dirty="0">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38753FAF-5277-79FE-E909-E17339CEA7CD}"/>
              </a:ext>
            </a:extLst>
          </p:cNvPr>
          <p:cNvSpPr>
            <a:spLocks noGrp="1"/>
          </p:cNvSpPr>
          <p:nvPr>
            <p:ph idx="1"/>
          </p:nvPr>
        </p:nvSpPr>
        <p:spPr>
          <a:xfrm>
            <a:off x="677862" y="1323474"/>
            <a:ext cx="9355371" cy="3834063"/>
          </a:xfrm>
        </p:spPr>
        <p:txBody>
          <a:bodyPr>
            <a:noAutofit/>
          </a:bodyPr>
          <a:lstStyle/>
          <a:p>
            <a:pPr marL="0" algn="l" rtl="0" eaLnBrk="1" fontAlgn="base" latinLnBrk="0" hangingPunct="1">
              <a:lnSpc>
                <a:spcPct val="170000"/>
              </a:lnSpc>
              <a:spcBef>
                <a:spcPts val="0"/>
              </a:spcBef>
              <a:spcAft>
                <a:spcPts val="0"/>
              </a:spcAft>
            </a:pPr>
            <a:r>
              <a:rPr lang="en-US" b="1" kern="1200" dirty="0">
                <a:solidFill>
                  <a:srgbClr val="000000"/>
                </a:solidFill>
                <a:effectLst/>
                <a:latin typeface="Times New Roman" panose="02020603050405020304" pitchFamily="18" charset="0"/>
                <a:ea typeface="+mn-ea"/>
                <a:cs typeface="Times New Roman" panose="02020603050405020304" pitchFamily="18" charset="0"/>
              </a:rPr>
              <a:t>1. Linear Regression</a:t>
            </a:r>
          </a:p>
          <a:p>
            <a:pPr marL="0" algn="l" rtl="0" eaLnBrk="1" fontAlgn="base" latinLnBrk="0" hangingPunct="1">
              <a:lnSpc>
                <a:spcPct val="17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This model shows a simple straight-line relationship between two variables. It is used when one      	factor affects another in a predictable way.</a:t>
            </a:r>
          </a:p>
          <a:p>
            <a:pPr marL="0" algn="l" rtl="0" eaLnBrk="1" fontAlgn="base" latinLnBrk="0" hangingPunct="1">
              <a:lnSpc>
                <a:spcPct val="17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Example: A company uses linear regression to see how changes in product price affect sales numbers.</a:t>
            </a:r>
          </a:p>
          <a:p>
            <a:pPr marL="0" indent="0" algn="l" rtl="0" eaLnBrk="1" fontAlgn="base" latinLnBrk="0" hangingPunct="1">
              <a:lnSpc>
                <a:spcPct val="170000"/>
              </a:lnSpc>
              <a:spcBef>
                <a:spcPts val="0"/>
              </a:spcBef>
              <a:spcAft>
                <a:spcPts val="0"/>
              </a:spcAft>
              <a:buNone/>
            </a:pPr>
            <a:endParaRPr lang="en-US" sz="1700" kern="1200" dirty="0">
              <a:solidFill>
                <a:srgbClr val="000000"/>
              </a:solidFill>
              <a:effectLst/>
              <a:latin typeface="Times New Roman" panose="02020603050405020304" pitchFamily="18" charset="0"/>
              <a:ea typeface="+mn-ea"/>
              <a:cs typeface="Times New Roman" panose="02020603050405020304" pitchFamily="18" charset="0"/>
            </a:endParaRPr>
          </a:p>
          <a:p>
            <a:pPr marL="0" algn="l" rtl="0" eaLnBrk="1" fontAlgn="base" latinLnBrk="0" hangingPunct="1">
              <a:lnSpc>
                <a:spcPct val="170000"/>
              </a:lnSpc>
              <a:spcBef>
                <a:spcPts val="0"/>
              </a:spcBef>
              <a:spcAft>
                <a:spcPts val="0"/>
              </a:spcAft>
            </a:pPr>
            <a:r>
              <a:rPr lang="en-US" b="1" kern="1200" dirty="0">
                <a:solidFill>
                  <a:srgbClr val="000000"/>
                </a:solidFill>
                <a:effectLst/>
                <a:latin typeface="Times New Roman" panose="02020603050405020304" pitchFamily="18" charset="0"/>
                <a:ea typeface="+mn-ea"/>
                <a:cs typeface="Times New Roman" panose="02020603050405020304" pitchFamily="18" charset="0"/>
              </a:rPr>
              <a:t>2. Logistic Regression</a:t>
            </a:r>
          </a:p>
          <a:p>
            <a:pPr marL="0" algn="l" rtl="0" eaLnBrk="1" fontAlgn="base" latinLnBrk="0" hangingPunct="1">
              <a:lnSpc>
                <a:spcPct val="170000"/>
              </a:lnSpc>
              <a:spcBef>
                <a:spcPts val="0"/>
              </a:spcBef>
              <a:spcAft>
                <a:spcPts val="0"/>
              </a:spcAft>
            </a:pPr>
            <a:r>
              <a:rPr lang="en-US" kern="1200" dirty="0">
                <a:solidFill>
                  <a:srgbClr val="000000"/>
                </a:solidFill>
                <a:effectLst/>
                <a:latin typeface="Times New Roman" panose="02020603050405020304" pitchFamily="18" charset="0"/>
                <a:ea typeface="+mn-ea"/>
                <a:cs typeface="Times New Roman" panose="02020603050405020304" pitchFamily="18" charset="0"/>
              </a:rPr>
              <a:t>This model is used when the outcome is a yes or no result. Instead of predicting a number, it 	predicts the probability of an event happening.</a:t>
            </a:r>
          </a:p>
          <a:p>
            <a:pPr marL="0" algn="l" rtl="0" eaLnBrk="1" fontAlgn="base" latinLnBrk="0" hangingPunct="1">
              <a:lnSpc>
                <a:spcPct val="170000"/>
              </a:lnSpc>
              <a:spcBef>
                <a:spcPts val="0"/>
              </a:spcBef>
              <a:spcAft>
                <a:spcPts val="0"/>
              </a:spcAft>
            </a:pPr>
            <a:r>
              <a:rPr lang="en-US" kern="1200" dirty="0">
                <a:solidFill>
                  <a:srgbClr val="000000"/>
                </a:solidFill>
                <a:effectLst/>
                <a:latin typeface="Times New Roman" panose="02020603050405020304" pitchFamily="18" charset="0"/>
                <a:ea typeface="+mn-ea"/>
                <a:cs typeface="Times New Roman" panose="02020603050405020304" pitchFamily="18" charset="0"/>
              </a:rPr>
              <a:t>Example: A bank uses logistic regression to predict whether a customer is likely to repay or 	default on a loan.</a:t>
            </a:r>
            <a:endParaRPr lang="en-IN" dirty="0">
              <a:effectLst/>
            </a:endParaRPr>
          </a:p>
        </p:txBody>
      </p:sp>
    </p:spTree>
    <p:extLst>
      <p:ext uri="{BB962C8B-B14F-4D97-AF65-F5344CB8AC3E}">
        <p14:creationId xmlns:p14="http://schemas.microsoft.com/office/powerpoint/2010/main" val="2190457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26E1E6E-44F5-9BFE-156D-BD66A880D564}"/>
              </a:ext>
            </a:extLst>
          </p:cNvPr>
          <p:cNvSpPr txBox="1">
            <a:spLocks/>
          </p:cNvSpPr>
          <p:nvPr/>
        </p:nvSpPr>
        <p:spPr>
          <a:xfrm>
            <a:off x="669473" y="652354"/>
            <a:ext cx="9355371" cy="383406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fontAlgn="base">
              <a:lnSpc>
                <a:spcPct val="170000"/>
              </a:lnSpc>
              <a:spcBef>
                <a:spcPts val="0"/>
              </a:spcBef>
            </a:pPr>
            <a:r>
              <a:rPr lang="en-US" b="1" dirty="0">
                <a:solidFill>
                  <a:srgbClr val="000000"/>
                </a:solidFill>
                <a:latin typeface="Times New Roman" panose="02020603050405020304" pitchFamily="18" charset="0"/>
                <a:cs typeface="Times New Roman" panose="02020603050405020304" pitchFamily="18" charset="0"/>
              </a:rPr>
              <a:t>3. Polynomial Regression</a:t>
            </a:r>
          </a:p>
          <a:p>
            <a:pPr marL="0" fontAlgn="base">
              <a:lnSpc>
                <a:spcPct val="170000"/>
              </a:lnSpc>
              <a:spcBef>
                <a:spcPts val="0"/>
              </a:spcBef>
            </a:pPr>
            <a:r>
              <a:rPr lang="en-US" sz="1700" dirty="0">
                <a:solidFill>
                  <a:srgbClr val="000000"/>
                </a:solidFill>
                <a:latin typeface="Times New Roman" panose="02020603050405020304" pitchFamily="18" charset="0"/>
                <a:cs typeface="Times New Roman" panose="02020603050405020304" pitchFamily="18" charset="0"/>
              </a:rPr>
              <a:t>This model is used when the relationship between variables is curved rather than a straight line. It 	helps when data doesn’t follow a simple pattern.</a:t>
            </a:r>
          </a:p>
          <a:p>
            <a:pPr marL="0" fontAlgn="base">
              <a:lnSpc>
                <a:spcPct val="170000"/>
              </a:lnSpc>
              <a:spcBef>
                <a:spcPts val="0"/>
              </a:spcBef>
            </a:pPr>
            <a:r>
              <a:rPr lang="en-US" sz="1700" dirty="0">
                <a:solidFill>
                  <a:srgbClr val="000000"/>
                </a:solidFill>
                <a:latin typeface="Times New Roman" panose="02020603050405020304" pitchFamily="18" charset="0"/>
                <a:cs typeface="Times New Roman" panose="02020603050405020304" pitchFamily="18" charset="0"/>
              </a:rPr>
              <a:t>Example: A retail company uses polynomial regression to analyze how customer satisfaction changes 	at different discount levels, where small or very large discounts may affect satisfaction differently.</a:t>
            </a:r>
          </a:p>
          <a:p>
            <a:pPr marL="0" indent="0" fontAlgn="base">
              <a:lnSpc>
                <a:spcPct val="170000"/>
              </a:lnSpc>
              <a:spcBef>
                <a:spcPts val="0"/>
              </a:spcBef>
              <a:buNone/>
            </a:pPr>
            <a:endParaRPr lang="en-US" sz="1700" dirty="0">
              <a:solidFill>
                <a:srgbClr val="000000"/>
              </a:solidFill>
              <a:latin typeface="Times New Roman" panose="02020603050405020304" pitchFamily="18" charset="0"/>
              <a:cs typeface="Times New Roman" panose="02020603050405020304" pitchFamily="18" charset="0"/>
            </a:endParaRPr>
          </a:p>
          <a:p>
            <a:pPr marL="0" fontAlgn="base">
              <a:lnSpc>
                <a:spcPct val="170000"/>
              </a:lnSpc>
              <a:spcBef>
                <a:spcPts val="0"/>
              </a:spcBef>
            </a:pPr>
            <a:r>
              <a:rPr lang="en-US" b="1" dirty="0">
                <a:solidFill>
                  <a:srgbClr val="000000"/>
                </a:solidFill>
                <a:latin typeface="Times New Roman" panose="02020603050405020304" pitchFamily="18" charset="0"/>
                <a:cs typeface="Times New Roman" panose="02020603050405020304" pitchFamily="18" charset="0"/>
              </a:rPr>
              <a:t>4. Ridge Regression</a:t>
            </a:r>
          </a:p>
          <a:p>
            <a:pPr marL="0" fontAlgn="base">
              <a:lnSpc>
                <a:spcPct val="170000"/>
              </a:lnSpc>
              <a:spcBef>
                <a:spcPts val="0"/>
              </a:spcBef>
            </a:pPr>
            <a:r>
              <a:rPr lang="en-US" sz="1700" dirty="0">
                <a:solidFill>
                  <a:srgbClr val="000000"/>
                </a:solidFill>
                <a:latin typeface="Times New Roman" panose="02020603050405020304" pitchFamily="18" charset="0"/>
                <a:cs typeface="Times New Roman" panose="02020603050405020304" pitchFamily="18" charset="0"/>
              </a:rPr>
              <a:t>This model is useful when there are many variables that may cause overfitting. Ridge regression helps 	control noise and makes the model more stable.</a:t>
            </a:r>
          </a:p>
          <a:p>
            <a:pPr marL="0" fontAlgn="base">
              <a:lnSpc>
                <a:spcPct val="170000"/>
              </a:lnSpc>
              <a:spcBef>
                <a:spcPts val="0"/>
              </a:spcBef>
            </a:pPr>
            <a:r>
              <a:rPr lang="en-US" sz="1700" dirty="0">
                <a:solidFill>
                  <a:srgbClr val="000000"/>
                </a:solidFill>
                <a:latin typeface="Times New Roman" panose="02020603050405020304" pitchFamily="18" charset="0"/>
                <a:cs typeface="Times New Roman" panose="02020603050405020304" pitchFamily="18" charset="0"/>
              </a:rPr>
              <a:t>Example: A marketing team uses ridge regression to analyze hundreds of customer behavior features 	to predict who is most likely to respond to a promotion.</a:t>
            </a:r>
          </a:p>
        </p:txBody>
      </p:sp>
    </p:spTree>
    <p:extLst>
      <p:ext uri="{BB962C8B-B14F-4D97-AF65-F5344CB8AC3E}">
        <p14:creationId xmlns:p14="http://schemas.microsoft.com/office/powerpoint/2010/main" val="822344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4A13FF1-A5AC-C8E1-4154-63CF24980D67}"/>
              </a:ext>
            </a:extLst>
          </p:cNvPr>
          <p:cNvSpPr>
            <a:spLocks noGrp="1"/>
          </p:cNvSpPr>
          <p:nvPr>
            <p:ph idx="1"/>
          </p:nvPr>
        </p:nvSpPr>
        <p:spPr>
          <a:xfrm>
            <a:off x="644307" y="782126"/>
            <a:ext cx="9372148" cy="3834063"/>
          </a:xfrm>
        </p:spPr>
        <p:txBody>
          <a:bodyPr>
            <a:noAutofit/>
          </a:bodyPr>
          <a:lstStyle/>
          <a:p>
            <a:pPr marL="0" algn="l" rtl="0" eaLnBrk="1" fontAlgn="base" latinLnBrk="0" hangingPunct="1">
              <a:lnSpc>
                <a:spcPct val="150000"/>
              </a:lnSpc>
              <a:spcBef>
                <a:spcPts val="0"/>
              </a:spcBef>
              <a:spcAft>
                <a:spcPts val="0"/>
              </a:spcAft>
            </a:pPr>
            <a:r>
              <a:rPr lang="en-US" b="1" kern="1200" dirty="0">
                <a:solidFill>
                  <a:srgbClr val="000000"/>
                </a:solidFill>
                <a:effectLst/>
                <a:latin typeface="Times New Roman" panose="02020603050405020304" pitchFamily="18" charset="0"/>
                <a:ea typeface="+mn-ea"/>
                <a:cs typeface="Times New Roman" panose="02020603050405020304" pitchFamily="18" charset="0"/>
              </a:rPr>
              <a:t>5. Lasso Regression</a:t>
            </a:r>
          </a:p>
          <a:p>
            <a:pPr marL="0" algn="l"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This model helps find the most important factors by reducing or removing variables that do not 	strongly affect the outcome. It improves model simplicity and accuracy.</a:t>
            </a:r>
          </a:p>
          <a:p>
            <a:pPr marL="0" algn="l"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Example: A company analyzing employee performance uses lasso regression to identify which 	factors training hours, experience, education, or job role matter the most.</a:t>
            </a:r>
          </a:p>
          <a:p>
            <a:pPr marL="0" algn="l" rtl="0" eaLnBrk="1" fontAlgn="base" latinLnBrk="0" hangingPunct="1">
              <a:lnSpc>
                <a:spcPct val="150000"/>
              </a:lnSpc>
              <a:spcBef>
                <a:spcPts val="0"/>
              </a:spcBef>
              <a:spcAft>
                <a:spcPts val="0"/>
              </a:spcAft>
            </a:pPr>
            <a:endParaRPr lang="en-US" sz="1700" kern="1200" dirty="0">
              <a:solidFill>
                <a:srgbClr val="000000"/>
              </a:solidFill>
              <a:effectLst/>
              <a:latin typeface="Times New Roman" panose="02020603050405020304" pitchFamily="18" charset="0"/>
              <a:ea typeface="+mn-ea"/>
              <a:cs typeface="Times New Roman" panose="02020603050405020304" pitchFamily="18" charset="0"/>
            </a:endParaRPr>
          </a:p>
          <a:p>
            <a:pPr marL="0" algn="l" rtl="0" eaLnBrk="1" fontAlgn="base" latinLnBrk="0" hangingPunct="1">
              <a:lnSpc>
                <a:spcPct val="150000"/>
              </a:lnSpc>
              <a:spcBef>
                <a:spcPts val="0"/>
              </a:spcBef>
              <a:spcAft>
                <a:spcPts val="0"/>
              </a:spcAft>
            </a:pPr>
            <a:r>
              <a:rPr lang="en-US" b="1" kern="1200" dirty="0">
                <a:solidFill>
                  <a:srgbClr val="000000"/>
                </a:solidFill>
                <a:effectLst/>
                <a:latin typeface="Times New Roman" panose="02020603050405020304" pitchFamily="18" charset="0"/>
                <a:ea typeface="+mn-ea"/>
                <a:cs typeface="Times New Roman" panose="02020603050405020304" pitchFamily="18" charset="0"/>
              </a:rPr>
              <a:t>6. Decision Tree Regressor</a:t>
            </a:r>
          </a:p>
          <a:p>
            <a:pPr marL="0" algn="l"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This model makes predictions by splitting data into branches based on rules. It is easy to understand 	because it works like a flowchart.</a:t>
            </a:r>
          </a:p>
          <a:p>
            <a:pPr marL="0" algn="l"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Example: A company uses a decision tree to predict house prices based on factors like location, size, 	and number of rooms.</a:t>
            </a:r>
          </a:p>
        </p:txBody>
      </p:sp>
    </p:spTree>
    <p:extLst>
      <p:ext uri="{BB962C8B-B14F-4D97-AF65-F5344CB8AC3E}">
        <p14:creationId xmlns:p14="http://schemas.microsoft.com/office/powerpoint/2010/main" val="2673362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B8B177-F038-A28D-686E-CAD24BDE52B9}"/>
              </a:ext>
            </a:extLst>
          </p:cNvPr>
          <p:cNvSpPr>
            <a:spLocks noGrp="1"/>
          </p:cNvSpPr>
          <p:nvPr>
            <p:ph idx="1"/>
          </p:nvPr>
        </p:nvSpPr>
        <p:spPr>
          <a:xfrm>
            <a:off x="677863" y="805344"/>
            <a:ext cx="9221146" cy="4540688"/>
          </a:xfrm>
        </p:spPr>
        <p:txBody>
          <a:bodyPr>
            <a:noAutofit/>
          </a:bodyPr>
          <a:lstStyle/>
          <a:p>
            <a:pPr marL="0" algn="l" rtl="0" eaLnBrk="1" fontAlgn="base" latinLnBrk="0" hangingPunct="1">
              <a:lnSpc>
                <a:spcPct val="150000"/>
              </a:lnSpc>
              <a:spcBef>
                <a:spcPts val="0"/>
              </a:spcBef>
              <a:spcAft>
                <a:spcPts val="0"/>
              </a:spcAft>
            </a:pPr>
            <a:endParaRPr lang="en-US" sz="1600" kern="1200" dirty="0">
              <a:solidFill>
                <a:srgbClr val="000000"/>
              </a:solidFill>
              <a:effectLst/>
              <a:latin typeface="Times New Roman" panose="02020603050405020304" pitchFamily="18" charset="0"/>
              <a:ea typeface="+mn-ea"/>
              <a:cs typeface="Times New Roman" panose="02020603050405020304" pitchFamily="18" charset="0"/>
            </a:endParaRPr>
          </a:p>
          <a:p>
            <a:pPr marL="0" algn="l" rtl="0" eaLnBrk="1" fontAlgn="base" latinLnBrk="0" hangingPunct="1">
              <a:lnSpc>
                <a:spcPct val="150000"/>
              </a:lnSpc>
              <a:spcBef>
                <a:spcPts val="0"/>
              </a:spcBef>
              <a:spcAft>
                <a:spcPts val="0"/>
              </a:spcAft>
            </a:pPr>
            <a:r>
              <a:rPr lang="en-US" b="1" kern="1200" dirty="0">
                <a:solidFill>
                  <a:srgbClr val="000000"/>
                </a:solidFill>
                <a:effectLst/>
                <a:latin typeface="Times New Roman" panose="02020603050405020304" pitchFamily="18" charset="0"/>
                <a:ea typeface="+mn-ea"/>
                <a:cs typeface="Times New Roman" panose="02020603050405020304" pitchFamily="18" charset="0"/>
              </a:rPr>
              <a:t>7. Random Forest Regressor</a:t>
            </a:r>
          </a:p>
          <a:p>
            <a:pPr marL="0" algn="l"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This model is made of many decision trees working together. It combines their results to make 	more accurate and stable predictions than a single tree.</a:t>
            </a:r>
          </a:p>
          <a:p>
            <a:pPr marL="0" algn="l"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Example: An e-commerce company uses a random forest regressor to predict customer spending 	based on age, income, browsing history, and purchase behavior.</a:t>
            </a:r>
          </a:p>
          <a:p>
            <a:pPr marL="0" algn="l" rtl="0" eaLnBrk="1" fontAlgn="base" latinLnBrk="0" hangingPunct="1">
              <a:lnSpc>
                <a:spcPct val="150000"/>
              </a:lnSpc>
              <a:spcBef>
                <a:spcPts val="0"/>
              </a:spcBef>
              <a:spcAft>
                <a:spcPts val="0"/>
              </a:spcAft>
            </a:pPr>
            <a:endParaRPr lang="en-US" sz="1700" kern="1200" dirty="0">
              <a:solidFill>
                <a:srgbClr val="000000"/>
              </a:solidFill>
              <a:effectLst/>
              <a:latin typeface="Times New Roman" panose="02020603050405020304" pitchFamily="18" charset="0"/>
              <a:ea typeface="+mn-ea"/>
              <a:cs typeface="Times New Roman" panose="02020603050405020304" pitchFamily="18" charset="0"/>
            </a:endParaRPr>
          </a:p>
          <a:p>
            <a:pPr marL="0" algn="l" rtl="0" eaLnBrk="1" fontAlgn="base" latinLnBrk="0" hangingPunct="1">
              <a:lnSpc>
                <a:spcPct val="150000"/>
              </a:lnSpc>
              <a:spcBef>
                <a:spcPts val="0"/>
              </a:spcBef>
              <a:spcAft>
                <a:spcPts val="0"/>
              </a:spcAft>
            </a:pPr>
            <a:r>
              <a:rPr lang="en-US" b="1" kern="1200" dirty="0">
                <a:solidFill>
                  <a:srgbClr val="000000"/>
                </a:solidFill>
                <a:effectLst/>
                <a:latin typeface="Times New Roman" panose="02020603050405020304" pitchFamily="18" charset="0"/>
                <a:ea typeface="+mn-ea"/>
                <a:cs typeface="Times New Roman" panose="02020603050405020304" pitchFamily="18" charset="0"/>
              </a:rPr>
              <a:t>8. Support Vector Machine (SVM) Regressor</a:t>
            </a:r>
          </a:p>
          <a:p>
            <a:pPr marL="0" algn="l"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This model finds the best possible line or curve that fits the data. It works well when data is 	complex and not easily separated.</a:t>
            </a:r>
          </a:p>
          <a:p>
            <a:pPr marL="0" algn="l"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Example: A telecom company uses an SVM regressor to predict internet usage patterns so they can 	improve network performance and customer experience.</a:t>
            </a:r>
            <a:endParaRPr lang="en-IN" sz="1700" dirty="0">
              <a:effectLst/>
            </a:endParaRPr>
          </a:p>
        </p:txBody>
      </p:sp>
    </p:spTree>
    <p:extLst>
      <p:ext uri="{BB962C8B-B14F-4D97-AF65-F5344CB8AC3E}">
        <p14:creationId xmlns:p14="http://schemas.microsoft.com/office/powerpoint/2010/main" val="2971725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EE236A-21F0-2629-64D4-A8A26796DB3C}"/>
              </a:ext>
            </a:extLst>
          </p:cNvPr>
          <p:cNvSpPr txBox="1">
            <a:spLocks/>
          </p:cNvSpPr>
          <p:nvPr/>
        </p:nvSpPr>
        <p:spPr>
          <a:xfrm>
            <a:off x="621716" y="436063"/>
            <a:ext cx="8596312" cy="751054"/>
          </a:xfrm>
          <a:prstGeom prst="rect">
            <a:avLst/>
          </a:prstGeom>
        </p:spPr>
        <p:txBody>
          <a:bodyPr vert="horz" lIns="91440" tIns="45720" rIns="91440" bIns="45720" rtlCol="0" anchor="t">
            <a:normAutofit/>
          </a:bodyPr>
          <a:lstStyle>
            <a:lvl1pPr marL="342900" indent="-342900" algn="l" defTabSz="457200" rtl="0" eaLnBrk="1" latinLnBrk="0" hangingPunct="1">
              <a:spcBef>
                <a:spcPct val="0"/>
              </a:spcBef>
              <a:spcAft>
                <a:spcPts val="0"/>
              </a:spcAft>
              <a:buClr>
                <a:schemeClr val="accent1"/>
              </a:buClr>
              <a:buSzPct val="80000"/>
              <a:buFont typeface="Wingdings 3" charset="2"/>
              <a:buNone/>
              <a:defRPr sz="3600" kern="1200">
                <a:solidFill>
                  <a:schemeClr val="accent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2"/>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2"/>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9pPr>
          </a:lstStyle>
          <a:p>
            <a:pPr algn="ctr"/>
            <a:r>
              <a:rPr lang="en-US" sz="3000"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Example in Marketing &amp; Finance </a:t>
            </a:r>
          </a:p>
        </p:txBody>
      </p:sp>
      <p:sp>
        <p:nvSpPr>
          <p:cNvPr id="5" name="Content Placeholder 2">
            <a:extLst>
              <a:ext uri="{FF2B5EF4-FFF2-40B4-BE49-F238E27FC236}">
                <a16:creationId xmlns:a16="http://schemas.microsoft.com/office/drawing/2014/main" id="{49263B5A-9B0D-69DD-BAD9-5536143238A9}"/>
              </a:ext>
            </a:extLst>
          </p:cNvPr>
          <p:cNvSpPr>
            <a:spLocks noGrp="1"/>
          </p:cNvSpPr>
          <p:nvPr>
            <p:ph idx="1"/>
          </p:nvPr>
        </p:nvSpPr>
        <p:spPr>
          <a:xfrm>
            <a:off x="758073" y="1183105"/>
            <a:ext cx="9325493" cy="4491789"/>
          </a:xfrm>
        </p:spPr>
        <p:txBody>
          <a:bodyPr>
            <a:noAutofit/>
          </a:bodyPr>
          <a:lstStyle/>
          <a:p>
            <a:pPr marL="0" algn="l" rtl="0" eaLnBrk="1" fontAlgn="base" latinLnBrk="0" hangingPunct="1">
              <a:lnSpc>
                <a:spcPct val="150000"/>
              </a:lnSpc>
              <a:spcBef>
                <a:spcPts val="0"/>
              </a:spcBef>
              <a:spcAft>
                <a:spcPts val="0"/>
              </a:spcAft>
            </a:pPr>
            <a:r>
              <a:rPr lang="en-US" b="1" kern="1200" dirty="0">
                <a:solidFill>
                  <a:srgbClr val="000000"/>
                </a:solidFill>
                <a:effectLst/>
                <a:latin typeface="Times New Roman" panose="02020603050405020304" pitchFamily="18" charset="0"/>
                <a:ea typeface="+mn-ea"/>
                <a:cs typeface="Times New Roman" panose="02020603050405020304" pitchFamily="18" charset="0"/>
              </a:rPr>
              <a:t>Marketing Example:</a:t>
            </a:r>
          </a:p>
          <a:p>
            <a:pPr marL="0" algn="l"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A business uses regression to study how advertising spending affects sales. </a:t>
            </a:r>
          </a:p>
          <a:p>
            <a:pPr marL="0" algn="l"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By analyzing past data, they can see whether social media ads, TV ads, or online promotions create 	the most customer interest. </a:t>
            </a:r>
          </a:p>
          <a:p>
            <a:pPr marL="0" algn="l"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This helps the company decide where to invest their marketing budget for the best return.</a:t>
            </a:r>
          </a:p>
          <a:p>
            <a:pPr marL="0" algn="l" rtl="0" eaLnBrk="1" fontAlgn="base" latinLnBrk="0" hangingPunct="1">
              <a:lnSpc>
                <a:spcPct val="150000"/>
              </a:lnSpc>
              <a:spcBef>
                <a:spcPts val="0"/>
              </a:spcBef>
              <a:spcAft>
                <a:spcPts val="0"/>
              </a:spcAft>
            </a:pPr>
            <a:endParaRPr lang="en-US" sz="1600" kern="1200" dirty="0">
              <a:solidFill>
                <a:srgbClr val="000000"/>
              </a:solidFill>
              <a:effectLst/>
              <a:latin typeface="Times New Roman" panose="02020603050405020304" pitchFamily="18" charset="0"/>
              <a:ea typeface="+mn-ea"/>
              <a:cs typeface="Times New Roman" panose="02020603050405020304" pitchFamily="18" charset="0"/>
            </a:endParaRPr>
          </a:p>
          <a:p>
            <a:pPr marL="0" algn="l" rtl="0" eaLnBrk="1" fontAlgn="base" latinLnBrk="0" hangingPunct="1">
              <a:lnSpc>
                <a:spcPct val="150000"/>
              </a:lnSpc>
              <a:spcBef>
                <a:spcPts val="0"/>
              </a:spcBef>
              <a:spcAft>
                <a:spcPts val="0"/>
              </a:spcAft>
            </a:pPr>
            <a:r>
              <a:rPr lang="en-US" b="1" kern="1200" dirty="0">
                <a:solidFill>
                  <a:srgbClr val="000000"/>
                </a:solidFill>
                <a:effectLst/>
                <a:latin typeface="Times New Roman" panose="02020603050405020304" pitchFamily="18" charset="0"/>
                <a:ea typeface="+mn-ea"/>
                <a:cs typeface="Times New Roman" panose="02020603050405020304" pitchFamily="18" charset="0"/>
              </a:rPr>
              <a:t>Finance Example:</a:t>
            </a:r>
          </a:p>
          <a:p>
            <a:pPr marL="0" algn="l"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A bank uses regression to estimate whether a customer is likely to repay a loan. </a:t>
            </a:r>
          </a:p>
          <a:p>
            <a:pPr marL="0" algn="l"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The model analyzes past loan data and considers factors such as income, credit score, and 	employment history. </a:t>
            </a:r>
          </a:p>
          <a:p>
            <a:pPr marL="0" algn="l"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This allows the bank to approve loans more confidently and reduce financial risk.</a:t>
            </a:r>
            <a:endParaRPr lang="en-IN" sz="1700" dirty="0">
              <a:effectLst/>
            </a:endParaRPr>
          </a:p>
        </p:txBody>
      </p:sp>
    </p:spTree>
    <p:extLst>
      <p:ext uri="{BB962C8B-B14F-4D97-AF65-F5344CB8AC3E}">
        <p14:creationId xmlns:p14="http://schemas.microsoft.com/office/powerpoint/2010/main" val="3670550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EE236A-21F0-2629-64D4-A8A26796DB3C}"/>
              </a:ext>
            </a:extLst>
          </p:cNvPr>
          <p:cNvSpPr txBox="1">
            <a:spLocks/>
          </p:cNvSpPr>
          <p:nvPr/>
        </p:nvSpPr>
        <p:spPr>
          <a:xfrm>
            <a:off x="621716" y="436063"/>
            <a:ext cx="8596312" cy="751054"/>
          </a:xfrm>
          <a:prstGeom prst="rect">
            <a:avLst/>
          </a:prstGeom>
        </p:spPr>
        <p:txBody>
          <a:bodyPr vert="horz" lIns="91440" tIns="45720" rIns="91440" bIns="45720" rtlCol="0" anchor="t">
            <a:normAutofit/>
          </a:bodyPr>
          <a:lstStyle>
            <a:lvl1pPr marL="342900" indent="-342900" algn="l" defTabSz="457200" rtl="0" eaLnBrk="1" latinLnBrk="0" hangingPunct="1">
              <a:spcBef>
                <a:spcPct val="0"/>
              </a:spcBef>
              <a:spcAft>
                <a:spcPts val="0"/>
              </a:spcAft>
              <a:buClr>
                <a:schemeClr val="accent1"/>
              </a:buClr>
              <a:buSzPct val="80000"/>
              <a:buFont typeface="Wingdings 3" charset="2"/>
              <a:buNone/>
              <a:defRPr sz="3600" kern="1200">
                <a:solidFill>
                  <a:schemeClr val="accent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2"/>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2"/>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9pPr>
          </a:lstStyle>
          <a:p>
            <a:pPr algn="ctr"/>
            <a:r>
              <a:rPr lang="en-US" sz="3000"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Benefits of Regression Models </a:t>
            </a:r>
          </a:p>
        </p:txBody>
      </p:sp>
      <p:sp>
        <p:nvSpPr>
          <p:cNvPr id="5" name="Content Placeholder 2">
            <a:extLst>
              <a:ext uri="{FF2B5EF4-FFF2-40B4-BE49-F238E27FC236}">
                <a16:creationId xmlns:a16="http://schemas.microsoft.com/office/drawing/2014/main" id="{49263B5A-9B0D-69DD-BAD9-5536143238A9}"/>
              </a:ext>
            </a:extLst>
          </p:cNvPr>
          <p:cNvSpPr>
            <a:spLocks noGrp="1"/>
          </p:cNvSpPr>
          <p:nvPr>
            <p:ph idx="1"/>
          </p:nvPr>
        </p:nvSpPr>
        <p:spPr>
          <a:xfrm>
            <a:off x="758074" y="1183105"/>
            <a:ext cx="8931210" cy="4491789"/>
          </a:xfrm>
        </p:spPr>
        <p:txBody>
          <a:bodyPr>
            <a:noAutofit/>
          </a:bodyPr>
          <a:lstStyle/>
          <a:p>
            <a:pPr marL="0" algn="just"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Regression models provide several important benefits for businesses. They help predict future outcomes such as sales, customer trends, or market demand, which allows companies to plan ahead with more confidence. </a:t>
            </a:r>
          </a:p>
          <a:p>
            <a:pPr marL="0" algn="just"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These models also make it easier to see which factors have the biggest impact on performance, so businesses can focus their time and money on what truly matters. </a:t>
            </a:r>
          </a:p>
          <a:p>
            <a:pPr marL="0" algn="just"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Regression supports smarter budgeting because it shows which decisions are likely to deliver the best results. It also helps reduce risk, since decisions are based on real data rather than assumptions or guesswork.</a:t>
            </a:r>
          </a:p>
          <a:p>
            <a:pPr marL="0" algn="just" rtl="0" eaLnBrk="1" fontAlgn="base" latinLnBrk="0" hangingPunct="1">
              <a:lnSpc>
                <a:spcPct val="150000"/>
              </a:lnSpc>
              <a:spcBef>
                <a:spcPts val="0"/>
              </a:spcBef>
              <a:spcAft>
                <a:spcPts val="0"/>
              </a:spcAft>
            </a:pPr>
            <a:r>
              <a:rPr lang="en-US" sz="1700" dirty="0">
                <a:solidFill>
                  <a:srgbClr val="000000"/>
                </a:solidFill>
                <a:latin typeface="Times New Roman" panose="02020603050405020304" pitchFamily="18" charset="0"/>
                <a:cs typeface="Times New Roman" panose="02020603050405020304" pitchFamily="18" charset="0"/>
              </a:rPr>
              <a:t>R</a:t>
            </a:r>
            <a:r>
              <a:rPr lang="en-US" sz="1700" kern="1200" dirty="0">
                <a:solidFill>
                  <a:srgbClr val="000000"/>
                </a:solidFill>
                <a:effectLst/>
                <a:latin typeface="Times New Roman" panose="02020603050405020304" pitchFamily="18" charset="0"/>
                <a:ea typeface="+mn-ea"/>
                <a:cs typeface="Times New Roman" panose="02020603050405020304" pitchFamily="18" charset="0"/>
              </a:rPr>
              <a:t>egression allows businesses to test ideas and strategies before investing large amounts of money. regression models improve accuracy, reduce uncertainty, and support better decision making.</a:t>
            </a:r>
            <a:endParaRPr lang="en-IN" sz="1700" dirty="0">
              <a:effectLst/>
            </a:endParaRPr>
          </a:p>
        </p:txBody>
      </p:sp>
    </p:spTree>
    <p:extLst>
      <p:ext uri="{BB962C8B-B14F-4D97-AF65-F5344CB8AC3E}">
        <p14:creationId xmlns:p14="http://schemas.microsoft.com/office/powerpoint/2010/main" val="3385720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22836D6-8EDA-3180-0271-C8D697252907}"/>
              </a:ext>
            </a:extLst>
          </p:cNvPr>
          <p:cNvSpPr txBox="1">
            <a:spLocks/>
          </p:cNvSpPr>
          <p:nvPr/>
        </p:nvSpPr>
        <p:spPr>
          <a:xfrm>
            <a:off x="621716" y="436063"/>
            <a:ext cx="8596312" cy="751054"/>
          </a:xfrm>
          <a:prstGeom prst="rect">
            <a:avLst/>
          </a:prstGeom>
        </p:spPr>
        <p:txBody>
          <a:bodyPr vert="horz" lIns="91440" tIns="45720" rIns="91440" bIns="45720" rtlCol="0" anchor="t">
            <a:normAutofit/>
          </a:bodyPr>
          <a:lstStyle>
            <a:lvl1pPr marL="342900" indent="-342900" algn="l" defTabSz="457200" rtl="0" eaLnBrk="1" latinLnBrk="0" hangingPunct="1">
              <a:spcBef>
                <a:spcPct val="0"/>
              </a:spcBef>
              <a:spcAft>
                <a:spcPts val="0"/>
              </a:spcAft>
              <a:buClr>
                <a:schemeClr val="accent1"/>
              </a:buClr>
              <a:buSzPct val="80000"/>
              <a:buFont typeface="Wingdings 3" charset="2"/>
              <a:buNone/>
              <a:defRPr sz="3600" kern="1200">
                <a:solidFill>
                  <a:schemeClr val="accent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2"/>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2"/>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9pPr>
          </a:lstStyle>
          <a:p>
            <a:pPr algn="ctr"/>
            <a:r>
              <a:rPr lang="en-US" sz="3000"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Conclusion</a:t>
            </a:r>
          </a:p>
        </p:txBody>
      </p:sp>
      <p:sp>
        <p:nvSpPr>
          <p:cNvPr id="5" name="Content Placeholder 2">
            <a:extLst>
              <a:ext uri="{FF2B5EF4-FFF2-40B4-BE49-F238E27FC236}">
                <a16:creationId xmlns:a16="http://schemas.microsoft.com/office/drawing/2014/main" id="{E8DC6D7E-5D15-75A2-7956-BCD5BE375153}"/>
              </a:ext>
            </a:extLst>
          </p:cNvPr>
          <p:cNvSpPr>
            <a:spLocks noGrp="1"/>
          </p:cNvSpPr>
          <p:nvPr>
            <p:ph idx="1"/>
          </p:nvPr>
        </p:nvSpPr>
        <p:spPr>
          <a:xfrm>
            <a:off x="758074" y="1183105"/>
            <a:ext cx="8931210" cy="4491789"/>
          </a:xfrm>
        </p:spPr>
        <p:txBody>
          <a:bodyPr>
            <a:noAutofit/>
          </a:bodyPr>
          <a:lstStyle/>
          <a:p>
            <a:pPr marL="0" algn="just"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Regression models play an important role in helping businesses make smarter and more informed decisions. By analyzing past data, these models help companies understand relationships, identify what influences outcomes, and make accurate predictions about the future. </a:t>
            </a:r>
          </a:p>
          <a:p>
            <a:pPr marL="0" algn="just" rtl="0" eaLnBrk="1" fontAlgn="base" latinLnBrk="0" hangingPunct="1">
              <a:lnSpc>
                <a:spcPct val="150000"/>
              </a:lnSpc>
              <a:spcBef>
                <a:spcPts val="0"/>
              </a:spcBef>
              <a:spcAft>
                <a:spcPts val="0"/>
              </a:spcAft>
            </a:pPr>
            <a:endParaRPr lang="en-US" sz="1700" kern="1200" dirty="0">
              <a:solidFill>
                <a:srgbClr val="000000"/>
              </a:solidFill>
              <a:effectLst/>
              <a:latin typeface="Times New Roman" panose="02020603050405020304" pitchFamily="18" charset="0"/>
              <a:ea typeface="+mn-ea"/>
              <a:cs typeface="Times New Roman" panose="02020603050405020304" pitchFamily="18" charset="0"/>
            </a:endParaRPr>
          </a:p>
          <a:p>
            <a:pPr marL="0" algn="just"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This leads to better planning, improved efficiency, and reduced risk. Whether used in marketing, finance, operations, or forecasting, regression models help organizations rely on data rather than guesswork. regression gives businesses clearer answers and supports stronger, more confident decision making.</a:t>
            </a:r>
            <a:endParaRPr lang="en-IN" sz="1700" dirty="0">
              <a:effectLst/>
            </a:endParaRPr>
          </a:p>
        </p:txBody>
      </p:sp>
    </p:spTree>
    <p:extLst>
      <p:ext uri="{BB962C8B-B14F-4D97-AF65-F5344CB8AC3E}">
        <p14:creationId xmlns:p14="http://schemas.microsoft.com/office/powerpoint/2010/main" val="2466101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8049990-52E4-37C7-4A8C-8258C63545E2}"/>
              </a:ext>
            </a:extLst>
          </p:cNvPr>
          <p:cNvSpPr>
            <a:spLocks noGrp="1"/>
          </p:cNvSpPr>
          <p:nvPr>
            <p:ph type="title"/>
          </p:nvPr>
        </p:nvSpPr>
        <p:spPr>
          <a:xfrm>
            <a:off x="950579" y="2768600"/>
            <a:ext cx="8596312" cy="1320800"/>
          </a:xfrm>
        </p:spPr>
        <p:txBody>
          <a:bodyPr/>
          <a:lstStyle/>
          <a:p>
            <a:pPr algn="ct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86848950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1019</TotalTime>
  <Words>1237</Words>
  <Application>Microsoft Office PowerPoint</Application>
  <PresentationFormat>Widescreen</PresentationFormat>
  <Paragraphs>82</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Times New Roman</vt:lpstr>
      <vt:lpstr>Trebuchet MS</vt:lpstr>
      <vt:lpstr>Wingdings 3</vt:lpstr>
      <vt:lpstr>Facet</vt:lpstr>
      <vt:lpstr>How Regression Models are used in Business</vt:lpstr>
      <vt:lpstr>OUTLINE</vt:lpstr>
      <vt:lpstr>What is Regression Model?</vt:lpstr>
      <vt:lpstr>PowerPoint Presentation</vt:lpstr>
      <vt:lpstr>PowerPoint Presentation</vt:lpstr>
      <vt:lpstr>Types of Regression Models Used in Business</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CURVECRAFTED-shopping website</dc:title>
  <dc:creator>Lenovo</dc:creator>
  <cp:lastModifiedBy>BAPA SITARAM</cp:lastModifiedBy>
  <cp:revision>256</cp:revision>
  <dcterms:created xsi:type="dcterms:W3CDTF">2024-04-24T06:03:34Z</dcterms:created>
  <dcterms:modified xsi:type="dcterms:W3CDTF">2025-12-06T15:39:50Z</dcterms:modified>
</cp:coreProperties>
</file>